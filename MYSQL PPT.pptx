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82" r:id="rId3"/>
    <p:sldId id="281" r:id="rId4"/>
    <p:sldId id="261" r:id="rId5"/>
    <p:sldId id="270" r:id="rId6"/>
    <p:sldId id="264" r:id="rId7"/>
    <p:sldId id="263" r:id="rId8"/>
    <p:sldId id="271" r:id="rId9"/>
    <p:sldId id="265" r:id="rId10"/>
    <p:sldId id="274" r:id="rId11"/>
    <p:sldId id="275" r:id="rId12"/>
    <p:sldId id="276" r:id="rId13"/>
    <p:sldId id="277" r:id="rId14"/>
    <p:sldId id="278" r:id="rId15"/>
    <p:sldId id="279" r:id="rId16"/>
    <p:sldId id="280" r:id="rId17"/>
    <p:sldId id="272" r:id="rId18"/>
    <p:sldId id="283" r:id="rId19"/>
    <p:sldId id="273" r:id="rId20"/>
    <p:sldId id="259" r:id="rId21"/>
  </p:sldIdLst>
  <p:sldSz cx="12192000" cy="6858000"/>
  <p:notesSz cx="6858000" cy="9144000"/>
  <p:embeddedFontLst>
    <p:embeddedFont>
      <p:font typeface="Libre Baskerville" panose="02000000000000000000" pitchFamily="2" charset="0"/>
      <p:regular r:id="rId23"/>
      <p:bold r:id="rId24"/>
      <p:italic r:id="rId25"/>
    </p:embeddedFont>
    <p:embeddedFont>
      <p:font typeface="Segoe UI" panose="020B0502040204020203"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8F356B-CC8B-433F-AA9D-6404572D51CE}" v="21" dt="2025-12-21T14:41:54.643"/>
    <p1510:client id="{36541FB4-ABE9-2EB5-A993-5B7BAEF82002}" v="132" dt="2025-12-21T16:32:51.6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1108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vakul-srenitha-2b0736372/"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publicdomainpictures.net/view-image.php?image=176655&amp;picture=&amp;jazyk=RU" TargetMode="External"/><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389073"/>
            <a:ext cx="7246189" cy="2031285"/>
          </a:xfrm>
          <a:prstGeom prst="rect">
            <a:avLst/>
          </a:prstGeom>
          <a:noFill/>
          <a:ln>
            <a:noFill/>
          </a:ln>
        </p:spPr>
        <p:txBody>
          <a:bodyPr spcFirstLastPara="1" wrap="square" lIns="91425" tIns="45700" rIns="91425" bIns="45700" anchor="t" anchorCtr="0">
            <a:spAutoFit/>
          </a:bodyPr>
          <a:lstStyle/>
          <a:p>
            <a:pPr algn="ctr">
              <a:buSzPts val="1800"/>
            </a:pPr>
            <a:br>
              <a:rPr lang="en-IN" sz="1800" b="0" i="0" u="none" strike="noStrike" cap="none" dirty="0">
                <a:solidFill>
                  <a:schemeClr val="dk1"/>
                </a:solidFill>
                <a:latin typeface="Calibri"/>
                <a:ea typeface="Calibri"/>
                <a:cs typeface="Calibri"/>
                <a:sym typeface="Calibri"/>
              </a:rPr>
            </a:br>
            <a:r>
              <a:rPr lang="en-IN" sz="3600" b="1" dirty="0">
                <a:solidFill>
                  <a:schemeClr val="dk1"/>
                </a:solidFill>
                <a:ea typeface="Calibri"/>
                <a:sym typeface="Calibri"/>
              </a:rPr>
              <a:t>Automated Book Circulation and Library Record System</a:t>
            </a:r>
          </a:p>
          <a:p>
            <a:pPr algn="ctr">
              <a:buSzPts val="1800"/>
            </a:pPr>
            <a:r>
              <a:rPr lang="en-IN" sz="3600" b="1" dirty="0">
                <a:solidFill>
                  <a:schemeClr val="dk1"/>
                </a:solidFill>
                <a:ea typeface="Calibri"/>
              </a:rPr>
              <a:t>Using </a:t>
            </a:r>
            <a:r>
              <a:rPr lang="en-IN" sz="3600" b="1" dirty="0">
                <a:solidFill>
                  <a:schemeClr val="tx1"/>
                </a:solidFill>
                <a:ea typeface="Calibri"/>
              </a:rPr>
              <a:t>MySQL</a:t>
            </a:r>
            <a:endParaRPr lang="en-IN" dirty="0">
              <a:solidFill>
                <a:schemeClr val="tx1"/>
              </a:solidFill>
            </a:endParaRPr>
          </a:p>
        </p:txBody>
      </p:sp>
      <p:sp>
        <p:nvSpPr>
          <p:cNvPr id="2" name="TextBox 1">
            <a:extLst>
              <a:ext uri="{FF2B5EF4-FFF2-40B4-BE49-F238E27FC236}">
                <a16:creationId xmlns:a16="http://schemas.microsoft.com/office/drawing/2014/main" id="{1C13D282-28E1-97E9-9C2C-CEAF37BE9084}"/>
              </a:ext>
            </a:extLst>
          </p:cNvPr>
          <p:cNvSpPr txBox="1"/>
          <p:nvPr/>
        </p:nvSpPr>
        <p:spPr>
          <a:xfrm>
            <a:off x="8423124" y="5549443"/>
            <a:ext cx="2625213" cy="707886"/>
          </a:xfrm>
          <a:prstGeom prst="rect">
            <a:avLst/>
          </a:prstGeom>
          <a:noFill/>
        </p:spPr>
        <p:txBody>
          <a:bodyPr wrap="square" lIns="91440" tIns="45720" rIns="91440" bIns="45720" rtlCol="0" anchor="t">
            <a:spAutoFit/>
          </a:bodyPr>
          <a:lstStyle/>
          <a:p>
            <a:r>
              <a:rPr lang="en-US" sz="2000" dirty="0"/>
              <a:t>Name : </a:t>
            </a:r>
            <a:r>
              <a:rPr lang="en-US" sz="2000" b="1" dirty="0"/>
              <a:t>V. Srenitha</a:t>
            </a:r>
          </a:p>
          <a:p>
            <a:r>
              <a:rPr lang="en-US" sz="2000" dirty="0"/>
              <a:t>Batch : </a:t>
            </a:r>
            <a:r>
              <a:rPr lang="en-US" sz="2000" b="1" dirty="0"/>
              <a:t>436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CCCA-D690-2A8E-5E74-8C0EEFA3013B}"/>
              </a:ext>
            </a:extLst>
          </p:cNvPr>
          <p:cNvSpPr>
            <a:spLocks noGrp="1"/>
          </p:cNvSpPr>
          <p:nvPr>
            <p:ph type="title"/>
          </p:nvPr>
        </p:nvSpPr>
        <p:spPr>
          <a:xfrm>
            <a:off x="838200" y="365125"/>
            <a:ext cx="10515600" cy="864961"/>
          </a:xfrm>
        </p:spPr>
        <p:txBody>
          <a:bodyPr>
            <a:normAutofit/>
          </a:bodyPr>
          <a:lstStyle/>
          <a:p>
            <a:r>
              <a:rPr lang="en-US" sz="3600" b="1" u="sng" dirty="0">
                <a:solidFill>
                  <a:srgbClr val="FF0000"/>
                </a:solidFill>
              </a:rPr>
              <a:t>About</a:t>
            </a:r>
            <a:endParaRPr lang="en-IN" sz="3600" b="1" u="sng" dirty="0">
              <a:solidFill>
                <a:srgbClr val="FF0000"/>
              </a:solidFill>
            </a:endParaRPr>
          </a:p>
        </p:txBody>
      </p:sp>
      <p:sp>
        <p:nvSpPr>
          <p:cNvPr id="3" name="Text Placeholder 2">
            <a:extLst>
              <a:ext uri="{FF2B5EF4-FFF2-40B4-BE49-F238E27FC236}">
                <a16:creationId xmlns:a16="http://schemas.microsoft.com/office/drawing/2014/main" id="{2E303A0C-81AB-15C5-51A6-651591676A70}"/>
              </a:ext>
            </a:extLst>
          </p:cNvPr>
          <p:cNvSpPr>
            <a:spLocks noGrp="1"/>
          </p:cNvSpPr>
          <p:nvPr>
            <p:ph type="body" idx="1"/>
          </p:nvPr>
        </p:nvSpPr>
        <p:spPr>
          <a:xfrm>
            <a:off x="838200" y="1153887"/>
            <a:ext cx="10374086" cy="3102428"/>
          </a:xfrm>
        </p:spPr>
        <p:txBody>
          <a:bodyPr>
            <a:normAutofit/>
          </a:bodyPr>
          <a:lstStyle/>
          <a:p>
            <a:pPr marL="285750" lvl="0" indent="-323850">
              <a:lnSpc>
                <a:spcPct val="100000"/>
              </a:lnSpc>
              <a:spcBef>
                <a:spcPts val="0"/>
              </a:spcBef>
              <a:buSzPts val="2400"/>
            </a:pPr>
            <a:r>
              <a:rPr lang="en-US" sz="2000" b="1" dirty="0">
                <a:latin typeface="Calibri" panose="020F0502020204030204" pitchFamily="34" charset="0"/>
                <a:ea typeface="Calibri" panose="020F0502020204030204" pitchFamily="34" charset="0"/>
                <a:cs typeface="Calibri" panose="020F0502020204030204" pitchFamily="34" charset="0"/>
              </a:rPr>
              <a:t>I am a B. Tech graduate in Computer Science Engineering from University college of  Engineering and Technology for Women</a:t>
            </a:r>
          </a:p>
          <a:p>
            <a:pPr marL="285750" lvl="0" indent="-323850">
              <a:lnSpc>
                <a:spcPct val="100000"/>
              </a:lnSpc>
              <a:spcBef>
                <a:spcPts val="0"/>
              </a:spcBef>
              <a:buSzPts val="2400"/>
            </a:pPr>
            <a:r>
              <a:rPr lang="en-US" sz="2000" b="1" dirty="0">
                <a:latin typeface="Calibri" panose="020F0502020204030204" pitchFamily="34" charset="0"/>
                <a:ea typeface="Calibri" panose="020F0502020204030204" pitchFamily="34" charset="0"/>
                <a:cs typeface="Calibri" panose="020F0502020204030204" pitchFamily="34" charset="0"/>
              </a:rPr>
              <a:t>Learning Data Science will prepare me for the future. we live in a data-driven world, where data-driven decisions are essential in technology, business, and research.</a:t>
            </a:r>
          </a:p>
          <a:p>
            <a:pPr marL="285750" lvl="0" indent="-323850">
              <a:lnSpc>
                <a:spcPct val="100000"/>
              </a:lnSpc>
              <a:spcBef>
                <a:spcPts val="0"/>
              </a:spcBef>
              <a:buSzPts val="2400"/>
            </a:pPr>
            <a:r>
              <a:rPr lang="en-US" sz="2000" b="1" dirty="0">
                <a:latin typeface="Calibri" panose="020F0502020204030204" pitchFamily="34" charset="0"/>
                <a:ea typeface="Calibri" panose="020F0502020204030204" pitchFamily="34" charset="0"/>
                <a:cs typeface="Calibri" panose="020F0502020204030204" pitchFamily="34" charset="0"/>
              </a:rPr>
              <a:t>Working Experience : Fresher</a:t>
            </a:r>
          </a:p>
          <a:p>
            <a:pPr marL="285750" lvl="0" indent="-323850">
              <a:lnSpc>
                <a:spcPct val="100000"/>
              </a:lnSpc>
              <a:spcBef>
                <a:spcPts val="0"/>
              </a:spcBef>
              <a:buSzPts val="2400"/>
            </a:pPr>
            <a:r>
              <a:rPr lang="en-US" sz="2000" b="1" dirty="0">
                <a:latin typeface="Calibri" panose="020F0502020204030204" pitchFamily="34" charset="0"/>
                <a:ea typeface="Calibri" panose="020F0502020204030204" pitchFamily="34" charset="0"/>
                <a:cs typeface="Calibri" panose="020F0502020204030204" pitchFamily="34" charset="0"/>
              </a:rPr>
              <a:t>LinkedIn : </a:t>
            </a:r>
            <a:r>
              <a:rPr lang="en-US" sz="2000" b="1" dirty="0">
                <a:solidFill>
                  <a:srgbClr val="0070C0"/>
                </a:solidFill>
                <a:latin typeface="Calibri" panose="020F0502020204030204" pitchFamily="34" charset="0"/>
                <a:ea typeface="Calibri" panose="020F0502020204030204" pitchFamily="34" charset="0"/>
                <a:cs typeface="Calibri" panose="020F0502020204030204" pitchFamily="34" charset="0"/>
                <a:hlinkClick r:id="rId2"/>
              </a:rPr>
              <a:t>https://www.linkedin.com/in/vakul-srenitha-2b0736372/</a:t>
            </a:r>
            <a:endParaRPr lang="en-US" sz="20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a:p>
            <a:pPr marL="285750" lvl="0" indent="-323850">
              <a:lnSpc>
                <a:spcPct val="100000"/>
              </a:lnSpc>
              <a:spcBef>
                <a:spcPts val="0"/>
              </a:spcBef>
              <a:buSzPts val="2400"/>
            </a:pPr>
            <a:r>
              <a:rPr lang="en-US" sz="2000" b="1" dirty="0">
                <a:latin typeface="Calibri" panose="020F0502020204030204" pitchFamily="34" charset="0"/>
                <a:ea typeface="Calibri" panose="020F0502020204030204" pitchFamily="34" charset="0"/>
                <a:cs typeface="Calibri" panose="020F0502020204030204" pitchFamily="34" charset="0"/>
              </a:rPr>
              <a:t>GitHub :   </a:t>
            </a:r>
            <a:r>
              <a:rPr lang="en-US" sz="2000" b="1" dirty="0">
                <a:solidFill>
                  <a:srgbClr val="0070C0"/>
                </a:solidFill>
                <a:latin typeface="Calibri" panose="020F0502020204030204" pitchFamily="34" charset="0"/>
                <a:ea typeface="Calibri" panose="020F0502020204030204" pitchFamily="34" charset="0"/>
                <a:cs typeface="Calibri" panose="020F0502020204030204" pitchFamily="34" charset="0"/>
              </a:rPr>
              <a:t>https://github.com/Srenitha07</a:t>
            </a:r>
          </a:p>
          <a:p>
            <a:pPr marL="114300" indent="0">
              <a:buNone/>
            </a:pPr>
            <a:endParaRPr lang="en-IN" sz="2000" dirty="0"/>
          </a:p>
        </p:txBody>
      </p:sp>
    </p:spTree>
    <p:extLst>
      <p:ext uri="{BB962C8B-B14F-4D97-AF65-F5344CB8AC3E}">
        <p14:creationId xmlns:p14="http://schemas.microsoft.com/office/powerpoint/2010/main" val="3275842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933EF-E5F3-3807-079F-918362302EED}"/>
              </a:ext>
            </a:extLst>
          </p:cNvPr>
          <p:cNvSpPr>
            <a:spLocks noGrp="1"/>
          </p:cNvSpPr>
          <p:nvPr>
            <p:ph type="title"/>
          </p:nvPr>
        </p:nvSpPr>
        <p:spPr>
          <a:xfrm>
            <a:off x="838200" y="365126"/>
            <a:ext cx="10515600" cy="962932"/>
          </a:xfrm>
        </p:spPr>
        <p:txBody>
          <a:bodyPr>
            <a:normAutofit/>
          </a:bodyPr>
          <a:lstStyle/>
          <a:p>
            <a:r>
              <a:rPr lang="en-US" sz="3600" b="1" u="sng" dirty="0">
                <a:solidFill>
                  <a:srgbClr val="FF0000"/>
                </a:solidFill>
              </a:rPr>
              <a:t>Agenda</a:t>
            </a:r>
            <a:endParaRPr lang="en-IN" sz="3600" b="1" u="sng" dirty="0">
              <a:solidFill>
                <a:srgbClr val="FF0000"/>
              </a:solidFill>
            </a:endParaRPr>
          </a:p>
        </p:txBody>
      </p:sp>
      <p:sp>
        <p:nvSpPr>
          <p:cNvPr id="3" name="Text Placeholder 2">
            <a:extLst>
              <a:ext uri="{FF2B5EF4-FFF2-40B4-BE49-F238E27FC236}">
                <a16:creationId xmlns:a16="http://schemas.microsoft.com/office/drawing/2014/main" id="{9B647AFF-5D06-921E-DF6D-D239FB2A6C7E}"/>
              </a:ext>
            </a:extLst>
          </p:cNvPr>
          <p:cNvSpPr>
            <a:spLocks noGrp="1"/>
          </p:cNvSpPr>
          <p:nvPr>
            <p:ph type="body" idx="1"/>
          </p:nvPr>
        </p:nvSpPr>
        <p:spPr>
          <a:xfrm>
            <a:off x="838200" y="1328058"/>
            <a:ext cx="10515600" cy="4351338"/>
          </a:xfrm>
        </p:spPr>
        <p:txBody>
          <a:bodyPr>
            <a:normAutofit/>
          </a:bodyPr>
          <a:lstStyle/>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BUSINESS PROBLEM STATEMENT</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OBJECTIVE OF THE  PROJECT</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TABLES</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DATA MODEL-(EER DIAGRAM)</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KEY  ANALYSIS  QUESTION </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SQL QUERIES &amp; RESULTS</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FINAL BUSINESS INSIGHTS</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CONCLUSION</a:t>
            </a:r>
          </a:p>
          <a:p>
            <a:pPr>
              <a:buFont typeface="Wingdings" panose="05000000000000000000" pitchFamily="2" charset="2"/>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Q &amp; A </a:t>
            </a:r>
          </a:p>
          <a:p>
            <a:pPr>
              <a:buFont typeface="Wingdings" panose="05000000000000000000" pitchFamily="2" charset="2"/>
              <a:buChar char="§"/>
            </a:pP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EXPERIENCE/CHALLENGES WORKING ON SQL</a:t>
            </a:r>
            <a:endParaRPr lang="en-US" b="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
            </a:pPr>
            <a:endParaRPr lang="en-US" b="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
            </a:pPr>
            <a:endParaRPr lang="en-IN" dirty="0"/>
          </a:p>
        </p:txBody>
      </p:sp>
    </p:spTree>
    <p:extLst>
      <p:ext uri="{BB962C8B-B14F-4D97-AF65-F5344CB8AC3E}">
        <p14:creationId xmlns:p14="http://schemas.microsoft.com/office/powerpoint/2010/main" val="1325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A7D56-EFF8-6068-A75F-D101171590D0}"/>
              </a:ext>
            </a:extLst>
          </p:cNvPr>
          <p:cNvSpPr>
            <a:spLocks noGrp="1"/>
          </p:cNvSpPr>
          <p:nvPr>
            <p:ph type="title"/>
          </p:nvPr>
        </p:nvSpPr>
        <p:spPr>
          <a:xfrm>
            <a:off x="1447800" y="209315"/>
            <a:ext cx="10049872" cy="1325563"/>
          </a:xfrm>
        </p:spPr>
        <p:txBody>
          <a:bodyPr>
            <a:normAutofit/>
          </a:bodyPr>
          <a:lstStyle/>
          <a:p>
            <a:r>
              <a:rPr lang="en-US" sz="3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 STATEMENT</a:t>
            </a:r>
          </a:p>
        </p:txBody>
      </p:sp>
      <p:sp>
        <p:nvSpPr>
          <p:cNvPr id="3" name="Text Placeholder 2">
            <a:extLst>
              <a:ext uri="{FF2B5EF4-FFF2-40B4-BE49-F238E27FC236}">
                <a16:creationId xmlns:a16="http://schemas.microsoft.com/office/drawing/2014/main" id="{AA459B7A-0D9B-7107-25FA-1AC691AB8D75}"/>
              </a:ext>
            </a:extLst>
          </p:cNvPr>
          <p:cNvSpPr>
            <a:spLocks noGrp="1"/>
          </p:cNvSpPr>
          <p:nvPr>
            <p:ph type="body" idx="1"/>
          </p:nvPr>
        </p:nvSpPr>
        <p:spPr>
          <a:xfrm>
            <a:off x="763556" y="1534878"/>
            <a:ext cx="10515600" cy="4351338"/>
          </a:xfrm>
        </p:spPr>
        <p:txBody>
          <a:bodyPr>
            <a:normAutofit/>
          </a:bodyPr>
          <a:lstStyle/>
          <a:p>
            <a:pPr marL="285750" indent="-285750">
              <a:lnSpc>
                <a:spcPct val="150000"/>
              </a:lnSpc>
            </a:pPr>
            <a:r>
              <a:rPr lang="en-US" sz="2000" dirty="0"/>
              <a:t>Many libraries still use registers or Excel, so issuing and returning books is slow, confusing, and full of mistakes.</a:t>
            </a:r>
          </a:p>
          <a:p>
            <a:pPr marL="285750" indent="-285750">
              <a:lnSpc>
                <a:spcPct val="150000"/>
              </a:lnSpc>
            </a:pPr>
            <a:r>
              <a:rPr lang="en-US" sz="2000" dirty="0"/>
              <a:t>Librarians and students face problems checking book availability, due dates, and fine calculation, especially during exam time.</a:t>
            </a:r>
          </a:p>
          <a:p>
            <a:pPr marL="285750" indent="-285750">
              <a:lnSpc>
                <a:spcPct val="150000"/>
              </a:lnSpc>
            </a:pPr>
            <a:r>
              <a:rPr lang="en-US" sz="2000" dirty="0"/>
              <a:t>A MySQL-based Library Management System puts everything in one place, automates daily work, saves time, reduces errors, and makes the library system smooth and organized.</a:t>
            </a:r>
          </a:p>
          <a:p>
            <a:pPr marL="114300" indent="0">
              <a:buNone/>
            </a:pPr>
            <a:endParaRPr lang="en-US" sz="2400" dirty="0">
              <a:cs typeface="Segoe UI"/>
            </a:endParaRPr>
          </a:p>
          <a:p>
            <a:pPr marL="114300" indent="0">
              <a:buNone/>
            </a:pPr>
            <a:endParaRPr lang="en-US" dirty="0"/>
          </a:p>
        </p:txBody>
      </p:sp>
      <p:pic>
        <p:nvPicPr>
          <p:cNvPr id="8" name="Picture 7">
            <a:extLst>
              <a:ext uri="{FF2B5EF4-FFF2-40B4-BE49-F238E27FC236}">
                <a16:creationId xmlns:a16="http://schemas.microsoft.com/office/drawing/2014/main" id="{77ED2378-AD43-0866-6DEC-E3108A440362}"/>
              </a:ext>
            </a:extLst>
          </p:cNvPr>
          <p:cNvPicPr>
            <a:picLocks noChangeAspect="1"/>
          </p:cNvPicPr>
          <p:nvPr/>
        </p:nvPicPr>
        <p:blipFill>
          <a:blip r:embed="rId2"/>
          <a:srcRect l="16399" t="25541" r="13826" b="5429"/>
          <a:stretch>
            <a:fillRect/>
          </a:stretch>
        </p:blipFill>
        <p:spPr>
          <a:xfrm>
            <a:off x="402770" y="209315"/>
            <a:ext cx="1143001" cy="1142992"/>
          </a:xfrm>
          <a:prstGeom prst="rect">
            <a:avLst/>
          </a:prstGeom>
        </p:spPr>
      </p:pic>
    </p:spTree>
    <p:extLst>
      <p:ext uri="{BB962C8B-B14F-4D97-AF65-F5344CB8AC3E}">
        <p14:creationId xmlns:p14="http://schemas.microsoft.com/office/powerpoint/2010/main" val="255087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2FD698-FBEA-A28F-2AB2-507031303AF4}"/>
              </a:ext>
            </a:extLst>
          </p:cNvPr>
          <p:cNvSpPr txBox="1"/>
          <p:nvPr/>
        </p:nvSpPr>
        <p:spPr>
          <a:xfrm>
            <a:off x="795434" y="550838"/>
            <a:ext cx="7679094" cy="584775"/>
          </a:xfrm>
          <a:prstGeom prst="rect">
            <a:avLst/>
          </a:prstGeom>
          <a:noFill/>
        </p:spPr>
        <p:txBody>
          <a:bodyPr wrap="square" rtlCol="0">
            <a:spAutoFit/>
          </a:bodyPr>
          <a:lstStyle/>
          <a:p>
            <a:r>
              <a:rPr lang="en-US" sz="3200" b="1" u="sng" dirty="0">
                <a:solidFill>
                  <a:srgbClr val="FF0000"/>
                </a:solidFill>
                <a:latin typeface="Calibri" panose="020F0502020204030204" pitchFamily="34" charset="0"/>
                <a:ea typeface="Calibri" panose="020F0502020204030204" pitchFamily="34" charset="0"/>
                <a:cs typeface="Calibri" panose="020F0502020204030204" pitchFamily="34" charset="0"/>
              </a:rPr>
              <a:t>    OBJECTIVE OF THE  PROJECT</a:t>
            </a:r>
          </a:p>
        </p:txBody>
      </p:sp>
      <p:sp>
        <p:nvSpPr>
          <p:cNvPr id="16" name="TextBox 15">
            <a:extLst>
              <a:ext uri="{FF2B5EF4-FFF2-40B4-BE49-F238E27FC236}">
                <a16:creationId xmlns:a16="http://schemas.microsoft.com/office/drawing/2014/main" id="{616691C3-08DA-754E-D8B8-707EACE5854E}"/>
              </a:ext>
            </a:extLst>
          </p:cNvPr>
          <p:cNvSpPr txBox="1"/>
          <p:nvPr/>
        </p:nvSpPr>
        <p:spPr>
          <a:xfrm>
            <a:off x="772108" y="1545752"/>
            <a:ext cx="10363978" cy="2814617"/>
          </a:xfrm>
          <a:prstGeom prst="rect">
            <a:avLst/>
          </a:prstGeom>
          <a:noFill/>
        </p:spPr>
        <p:txBody>
          <a:bodyPr wrap="square">
            <a:spAutoFit/>
          </a:bodyPr>
          <a:lstStyle/>
          <a:p>
            <a:pPr>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The objective of this </a:t>
            </a:r>
            <a:r>
              <a:rPr lang="en-US" sz="2000" b="1" dirty="0">
                <a:latin typeface="Calibri" panose="020F0502020204030204" pitchFamily="34" charset="0"/>
                <a:ea typeface="Calibri" panose="020F0502020204030204" pitchFamily="34" charset="0"/>
                <a:cs typeface="Calibri" panose="020F0502020204030204" pitchFamily="34" charset="0"/>
              </a:rPr>
              <a:t>Library Management System</a:t>
            </a:r>
            <a:r>
              <a:rPr lang="en-US" sz="2000" dirty="0">
                <a:latin typeface="Calibri" panose="020F0502020204030204" pitchFamily="34" charset="0"/>
                <a:ea typeface="Calibri" panose="020F0502020204030204" pitchFamily="34" charset="0"/>
                <a:cs typeface="Calibri" panose="020F0502020204030204" pitchFamily="34" charset="0"/>
              </a:rPr>
              <a:t> is to streamline library operations by automating key functions such as </a:t>
            </a:r>
            <a:r>
              <a:rPr lang="en-US" sz="2000" b="1" dirty="0">
                <a:latin typeface="Calibri" panose="020F0502020204030204" pitchFamily="34" charset="0"/>
                <a:ea typeface="Calibri" panose="020F0502020204030204" pitchFamily="34" charset="0"/>
                <a:cs typeface="Calibri" panose="020F0502020204030204" pitchFamily="34" charset="0"/>
              </a:rPr>
              <a:t>book tracking</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user management</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b="1" dirty="0">
                <a:latin typeface="Calibri" panose="020F0502020204030204" pitchFamily="34" charset="0"/>
                <a:ea typeface="Calibri" panose="020F0502020204030204" pitchFamily="34" charset="0"/>
                <a:cs typeface="Calibri" panose="020F0502020204030204" pitchFamily="34" charset="0"/>
              </a:rPr>
              <a:t>transaction processing</a:t>
            </a:r>
            <a:r>
              <a:rPr lang="en-US" sz="2000" dirty="0">
                <a:latin typeface="Calibri" panose="020F0502020204030204" pitchFamily="34" charset="0"/>
                <a:ea typeface="Calibri" panose="020F0502020204030204" pitchFamily="34" charset="0"/>
                <a:cs typeface="Calibri" panose="020F0502020204030204" pitchFamily="34" charset="0"/>
              </a:rPr>
              <a:t>. Using </a:t>
            </a:r>
            <a:r>
              <a:rPr lang="en-US" sz="2000" b="1" dirty="0">
                <a:latin typeface="Calibri" panose="020F0502020204030204" pitchFamily="34" charset="0"/>
                <a:ea typeface="Calibri" panose="020F0502020204030204" pitchFamily="34" charset="0"/>
                <a:cs typeface="Calibri" panose="020F0502020204030204" pitchFamily="34" charset="0"/>
              </a:rPr>
              <a:t>MySQL</a:t>
            </a:r>
            <a:r>
              <a:rPr lang="en-US" sz="2000" dirty="0">
                <a:latin typeface="Calibri" panose="020F0502020204030204" pitchFamily="34" charset="0"/>
                <a:ea typeface="Calibri" panose="020F0502020204030204" pitchFamily="34" charset="0"/>
                <a:cs typeface="Calibri" panose="020F0502020204030204" pitchFamily="34" charset="0"/>
              </a:rPr>
              <a:t>, the system will efficiently manage </a:t>
            </a:r>
            <a:r>
              <a:rPr lang="en-US" sz="2000" b="1" dirty="0">
                <a:latin typeface="Calibri" panose="020F0502020204030204" pitchFamily="34" charset="0"/>
                <a:ea typeface="Calibri" panose="020F0502020204030204" pitchFamily="34" charset="0"/>
                <a:cs typeface="Calibri" panose="020F0502020204030204" pitchFamily="34" charset="0"/>
              </a:rPr>
              <a:t>book details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member information</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b="1" dirty="0">
                <a:latin typeface="Calibri" panose="020F0502020204030204" pitchFamily="34" charset="0"/>
                <a:ea typeface="Calibri" panose="020F0502020204030204" pitchFamily="34" charset="0"/>
                <a:cs typeface="Calibri" panose="020F0502020204030204" pitchFamily="34" charset="0"/>
              </a:rPr>
              <a:t>overdue items</a:t>
            </a:r>
            <a:r>
              <a:rPr lang="en-US" sz="2000" dirty="0">
                <a:latin typeface="Calibri" panose="020F0502020204030204" pitchFamily="34" charset="0"/>
                <a:ea typeface="Calibri" panose="020F0502020204030204" pitchFamily="34" charset="0"/>
                <a:cs typeface="Calibri" panose="020F0502020204030204" pitchFamily="34" charset="0"/>
              </a:rPr>
              <a:t>. It aims to enhance the </a:t>
            </a:r>
            <a:r>
              <a:rPr lang="en-US" sz="2000" b="1" dirty="0">
                <a:latin typeface="Calibri" panose="020F0502020204030204" pitchFamily="34" charset="0"/>
                <a:ea typeface="Calibri" panose="020F0502020204030204" pitchFamily="34" charset="0"/>
                <a:cs typeface="Calibri" panose="020F0502020204030204" pitchFamily="34" charset="0"/>
              </a:rPr>
              <a:t>user experience</a:t>
            </a:r>
            <a:r>
              <a:rPr lang="en-US" sz="2000" dirty="0">
                <a:latin typeface="Calibri" panose="020F0502020204030204" pitchFamily="34" charset="0"/>
                <a:ea typeface="Calibri" panose="020F0502020204030204" pitchFamily="34" charset="0"/>
                <a:cs typeface="Calibri" panose="020F0502020204030204" pitchFamily="34" charset="0"/>
              </a:rPr>
              <a:t> with advanced search capabilities and generate useful </a:t>
            </a:r>
            <a:r>
              <a:rPr lang="en-US" sz="2000" b="1" dirty="0">
                <a:latin typeface="Calibri" panose="020F0502020204030204" pitchFamily="34" charset="0"/>
                <a:ea typeface="Calibri" panose="020F0502020204030204" pitchFamily="34" charset="0"/>
                <a:cs typeface="Calibri" panose="020F0502020204030204" pitchFamily="34" charset="0"/>
              </a:rPr>
              <a:t>reports</a:t>
            </a:r>
            <a:r>
              <a:rPr lang="en-US" sz="2000" dirty="0">
                <a:latin typeface="Calibri" panose="020F0502020204030204" pitchFamily="34" charset="0"/>
                <a:ea typeface="Calibri" panose="020F0502020204030204" pitchFamily="34" charset="0"/>
                <a:cs typeface="Calibri" panose="020F0502020204030204" pitchFamily="34" charset="0"/>
              </a:rPr>
              <a:t> for library staff. Overall, this project seeks to create a simple, effective, and </a:t>
            </a:r>
            <a:r>
              <a:rPr lang="en-US" sz="2000" b="1" dirty="0">
                <a:latin typeface="Calibri" panose="020F0502020204030204" pitchFamily="34" charset="0"/>
                <a:ea typeface="Calibri" panose="020F0502020204030204" pitchFamily="34" charset="0"/>
                <a:cs typeface="Calibri" panose="020F0502020204030204" pitchFamily="34" charset="0"/>
              </a:rPr>
              <a:t>scalable solution</a:t>
            </a:r>
            <a:r>
              <a:rPr lang="en-US" sz="2000" dirty="0">
                <a:latin typeface="Calibri" panose="020F0502020204030204" pitchFamily="34" charset="0"/>
                <a:ea typeface="Calibri" panose="020F0502020204030204" pitchFamily="34" charset="0"/>
                <a:cs typeface="Calibri" panose="020F0502020204030204" pitchFamily="34" charset="0"/>
              </a:rPr>
              <a:t> for modern library management.</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2561DB12-8095-1409-81D9-B64114EDB02C}"/>
              </a:ext>
            </a:extLst>
          </p:cNvPr>
          <p:cNvPicPr>
            <a:picLocks noChangeAspect="1"/>
          </p:cNvPicPr>
          <p:nvPr/>
        </p:nvPicPr>
        <p:blipFill>
          <a:blip r:embed="rId2"/>
          <a:srcRect l="16399" t="25541" r="13826" b="5429"/>
          <a:stretch>
            <a:fillRect/>
          </a:stretch>
        </p:blipFill>
        <p:spPr>
          <a:xfrm>
            <a:off x="239486" y="293914"/>
            <a:ext cx="990601" cy="936172"/>
          </a:xfrm>
          <a:prstGeom prst="rect">
            <a:avLst/>
          </a:prstGeom>
        </p:spPr>
      </p:pic>
    </p:spTree>
    <p:extLst>
      <p:ext uri="{BB962C8B-B14F-4D97-AF65-F5344CB8AC3E}">
        <p14:creationId xmlns:p14="http://schemas.microsoft.com/office/powerpoint/2010/main" val="295256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20AB-ACC6-0B25-DD8F-7C041597315B}"/>
              </a:ext>
            </a:extLst>
          </p:cNvPr>
          <p:cNvSpPr>
            <a:spLocks noGrp="1"/>
          </p:cNvSpPr>
          <p:nvPr>
            <p:ph type="title"/>
          </p:nvPr>
        </p:nvSpPr>
        <p:spPr>
          <a:xfrm>
            <a:off x="839788" y="0"/>
            <a:ext cx="3932237" cy="1600200"/>
          </a:xfrm>
        </p:spPr>
        <p:txBody>
          <a:bodyPr wrap="square" anchor="b">
            <a:normAutofit/>
          </a:bodyPr>
          <a:lstStyle/>
          <a:p>
            <a:r>
              <a:rPr lang="en-US" b="1" dirty="0">
                <a:solidFill>
                  <a:srgbClr val="FF0000"/>
                </a:solidFill>
              </a:rPr>
              <a:t>TABLES</a:t>
            </a:r>
          </a:p>
        </p:txBody>
      </p:sp>
      <p:pic>
        <p:nvPicPr>
          <p:cNvPr id="4" name="Picture 3">
            <a:extLst>
              <a:ext uri="{FF2B5EF4-FFF2-40B4-BE49-F238E27FC236}">
                <a16:creationId xmlns:a16="http://schemas.microsoft.com/office/drawing/2014/main" id="{FE56D72D-DAF6-CA0D-3CFC-CEDA0ED06C82}"/>
              </a:ext>
            </a:extLst>
          </p:cNvPr>
          <p:cNvPicPr>
            <a:picLocks noChangeAspect="1"/>
          </p:cNvPicPr>
          <p:nvPr/>
        </p:nvPicPr>
        <p:blipFill>
          <a:blip r:embed="rId3"/>
          <a:srcRect l="14700" t="19552" r="14063" b="2"/>
          <a:stretch>
            <a:fillRect/>
          </a:stretch>
        </p:blipFill>
        <p:spPr>
          <a:xfrm>
            <a:off x="5581195" y="1468631"/>
            <a:ext cx="5771017" cy="3920738"/>
          </a:xfrm>
          <a:prstGeom prst="rect">
            <a:avLst/>
          </a:prstGeom>
          <a:noFill/>
          <a:ln>
            <a:noFill/>
          </a:ln>
        </p:spPr>
      </p:pic>
      <p:sp>
        <p:nvSpPr>
          <p:cNvPr id="3" name="Text Placeholder 2">
            <a:extLst>
              <a:ext uri="{FF2B5EF4-FFF2-40B4-BE49-F238E27FC236}">
                <a16:creationId xmlns:a16="http://schemas.microsoft.com/office/drawing/2014/main" id="{223EC3B0-F693-180A-E559-D38BB1B0D0B2}"/>
              </a:ext>
            </a:extLst>
          </p:cNvPr>
          <p:cNvSpPr>
            <a:spLocks noGrp="1"/>
          </p:cNvSpPr>
          <p:nvPr>
            <p:ph type="body" idx="1"/>
          </p:nvPr>
        </p:nvSpPr>
        <p:spPr>
          <a:xfrm>
            <a:off x="839787" y="1600200"/>
            <a:ext cx="3932237" cy="3811588"/>
          </a:xfrm>
        </p:spPr>
        <p:txBody>
          <a:bodyPr wrap="square" anchor="t">
            <a:normAutofit/>
          </a:bodyPr>
          <a:lstStyle/>
          <a:p>
            <a:pPr marL="114300" indent="0">
              <a:buNone/>
            </a:pPr>
            <a:r>
              <a:rPr lang="en-US" sz="2000" dirty="0"/>
              <a:t>Created tables are:         </a:t>
            </a:r>
          </a:p>
          <a:p>
            <a:pPr>
              <a:buFont typeface="Wingdings" panose="05000000000000000000" pitchFamily="2" charset="2"/>
              <a:buChar char="q"/>
            </a:pPr>
            <a:r>
              <a:rPr lang="en-US" sz="2000" dirty="0"/>
              <a:t>tbl_books</a:t>
            </a:r>
          </a:p>
          <a:p>
            <a:pPr>
              <a:buFont typeface="Wingdings" panose="05000000000000000000" pitchFamily="2" charset="2"/>
              <a:buChar char="q"/>
            </a:pPr>
            <a:r>
              <a:rPr lang="en-US" sz="2000" dirty="0"/>
              <a:t>tbl_authors</a:t>
            </a:r>
          </a:p>
          <a:p>
            <a:pPr>
              <a:buFont typeface="Wingdings" panose="05000000000000000000" pitchFamily="2" charset="2"/>
              <a:buChar char="q"/>
            </a:pPr>
            <a:r>
              <a:rPr lang="en-US" sz="2000" dirty="0"/>
              <a:t>tbl_book_copies</a:t>
            </a:r>
          </a:p>
          <a:p>
            <a:pPr>
              <a:buFont typeface="Wingdings" panose="05000000000000000000" pitchFamily="2" charset="2"/>
              <a:buChar char="q"/>
            </a:pPr>
            <a:r>
              <a:rPr lang="en-US" sz="2000" dirty="0"/>
              <a:t>tbl_book_loans</a:t>
            </a:r>
          </a:p>
          <a:p>
            <a:pPr>
              <a:buFont typeface="Wingdings" panose="05000000000000000000" pitchFamily="2" charset="2"/>
              <a:buChar char="q"/>
            </a:pPr>
            <a:r>
              <a:rPr lang="en-US" sz="2000" dirty="0"/>
              <a:t>tbl_borrower</a:t>
            </a:r>
          </a:p>
          <a:p>
            <a:pPr>
              <a:buFont typeface="Wingdings" panose="05000000000000000000" pitchFamily="2" charset="2"/>
              <a:buChar char="q"/>
            </a:pPr>
            <a:r>
              <a:rPr lang="en-US" sz="2000" dirty="0"/>
              <a:t>tbl_library_branch</a:t>
            </a:r>
          </a:p>
          <a:p>
            <a:pPr>
              <a:buFont typeface="Wingdings" panose="05000000000000000000" pitchFamily="2" charset="2"/>
              <a:buChar char="q"/>
            </a:pPr>
            <a:r>
              <a:rPr lang="en-US" sz="2000" dirty="0"/>
              <a:t>tbl_publisher</a:t>
            </a:r>
          </a:p>
          <a:p>
            <a:pPr marL="114300" indent="0">
              <a:buNone/>
            </a:pPr>
            <a:endParaRPr lang="en-US" dirty="0"/>
          </a:p>
        </p:txBody>
      </p:sp>
    </p:spTree>
    <p:extLst>
      <p:ext uri="{BB962C8B-B14F-4D97-AF65-F5344CB8AC3E}">
        <p14:creationId xmlns:p14="http://schemas.microsoft.com/office/powerpoint/2010/main" val="2017573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8E467-B791-66A6-A268-1999DE9E2332}"/>
              </a:ext>
            </a:extLst>
          </p:cNvPr>
          <p:cNvSpPr>
            <a:spLocks noGrp="1"/>
          </p:cNvSpPr>
          <p:nvPr>
            <p:ph type="title" idx="4294967295"/>
          </p:nvPr>
        </p:nvSpPr>
        <p:spPr>
          <a:xfrm>
            <a:off x="985934" y="-89574"/>
            <a:ext cx="10515600" cy="1325563"/>
          </a:xfrm>
        </p:spPr>
        <p:txBody>
          <a:bodyPr>
            <a:normAutofit/>
          </a:bodyPr>
          <a:lstStyle/>
          <a:p>
            <a:r>
              <a:rPr lang="en-US" sz="3600" b="1" u="sng" dirty="0">
                <a:solidFill>
                  <a:srgbClr val="FF0000"/>
                </a:solidFill>
              </a:rPr>
              <a:t>Data Model(EER DIAGRAM)</a:t>
            </a:r>
          </a:p>
        </p:txBody>
      </p:sp>
      <p:pic>
        <p:nvPicPr>
          <p:cNvPr id="7" name="Picture 6">
            <a:extLst>
              <a:ext uri="{FF2B5EF4-FFF2-40B4-BE49-F238E27FC236}">
                <a16:creationId xmlns:a16="http://schemas.microsoft.com/office/drawing/2014/main" id="{9E26542C-67EC-5DF7-2D5D-9F35CE254F78}"/>
              </a:ext>
            </a:extLst>
          </p:cNvPr>
          <p:cNvPicPr>
            <a:picLocks noChangeAspect="1"/>
          </p:cNvPicPr>
          <p:nvPr/>
        </p:nvPicPr>
        <p:blipFill>
          <a:blip r:embed="rId2"/>
          <a:stretch>
            <a:fillRect/>
          </a:stretch>
        </p:blipFill>
        <p:spPr>
          <a:xfrm>
            <a:off x="365448" y="1009885"/>
            <a:ext cx="10770638" cy="5274907"/>
          </a:xfrm>
          <a:prstGeom prst="rect">
            <a:avLst/>
          </a:prstGeom>
        </p:spPr>
      </p:pic>
      <p:pic>
        <p:nvPicPr>
          <p:cNvPr id="3" name="Picture 2">
            <a:extLst>
              <a:ext uri="{FF2B5EF4-FFF2-40B4-BE49-F238E27FC236}">
                <a16:creationId xmlns:a16="http://schemas.microsoft.com/office/drawing/2014/main" id="{D4F77190-7476-6153-6A33-BEB80BC1F2A3}"/>
              </a:ext>
            </a:extLst>
          </p:cNvPr>
          <p:cNvPicPr>
            <a:picLocks noChangeAspect="1"/>
          </p:cNvPicPr>
          <p:nvPr/>
        </p:nvPicPr>
        <p:blipFill>
          <a:blip r:embed="rId3"/>
          <a:srcRect l="16399" t="25541" r="13826" b="5429"/>
          <a:stretch>
            <a:fillRect/>
          </a:stretch>
        </p:blipFill>
        <p:spPr>
          <a:xfrm>
            <a:off x="0" y="0"/>
            <a:ext cx="1045029" cy="1009885"/>
          </a:xfrm>
          <a:prstGeom prst="rect">
            <a:avLst/>
          </a:prstGeom>
        </p:spPr>
      </p:pic>
    </p:spTree>
    <p:extLst>
      <p:ext uri="{BB962C8B-B14F-4D97-AF65-F5344CB8AC3E}">
        <p14:creationId xmlns:p14="http://schemas.microsoft.com/office/powerpoint/2010/main" val="3781752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CF31715A-6300-3D29-46BF-A15DD23423F4}"/>
              </a:ext>
            </a:extLst>
          </p:cNvPr>
          <p:cNvSpPr txBox="1"/>
          <p:nvPr/>
        </p:nvSpPr>
        <p:spPr>
          <a:xfrm>
            <a:off x="837811" y="1098362"/>
            <a:ext cx="10516378" cy="4661276"/>
          </a:xfrm>
          <a:prstGeom prst="rect">
            <a:avLst/>
          </a:prstGeom>
          <a:noFill/>
          <a:ln>
            <a:solidFill>
              <a:schemeClr val="tx1"/>
            </a:solidFill>
          </a:ln>
        </p:spPr>
        <p:txBody>
          <a:bodyPr wrap="square">
            <a:spAutoFit/>
          </a:bodyPr>
          <a:lstStyle/>
          <a:p>
            <a:pPr marL="285750" indent="-285750">
              <a:lnSpc>
                <a:spcPct val="150000"/>
              </a:lnSpc>
              <a:buFont typeface="Wingdings" pitchFamily="2" charset="2"/>
              <a:buChar char="v"/>
            </a:pPr>
            <a:r>
              <a:rPr lang="en-IN" sz="2000" dirty="0">
                <a:latin typeface="Calibri" panose="020F0502020204030204" pitchFamily="34" charset="0"/>
                <a:ea typeface="Calibri" panose="020F0502020204030204" pitchFamily="34" charset="0"/>
                <a:cs typeface="Calibri" panose="020F0502020204030204" pitchFamily="34" charset="0"/>
              </a:rPr>
              <a:t> Which borrowers have never borrowed any books from the library?</a:t>
            </a:r>
          </a:p>
          <a:p>
            <a:pPr marL="285750" indent="-285750">
              <a:lnSpc>
                <a:spcPct val="150000"/>
              </a:lnSpc>
              <a:buFont typeface="Wingdings"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How many copies of the book titled "The Lost Tribe" are owned by each library branch? </a:t>
            </a:r>
          </a:p>
          <a:p>
            <a:pPr marL="285750" indent="-285750">
              <a:lnSpc>
                <a:spcPct val="150000"/>
              </a:lnSpc>
              <a:buFont typeface="Wingdings" pitchFamily="2" charset="2"/>
              <a:buChar char="v"/>
            </a:pPr>
            <a:r>
              <a:rPr lang="en-US" sz="2000" dirty="0">
                <a:latin typeface="Calibri" panose="020F0502020204030204" pitchFamily="34" charset="0"/>
                <a:ea typeface="Calibri" panose="020F0502020204030204" pitchFamily="34" charset="0"/>
                <a:cs typeface="Calibri" panose="020F0502020204030204" pitchFamily="34" charset="0"/>
              </a:rPr>
              <a:t>Retrieve the names, addresses, and number of books checked out for all borrowers who have more than five books checked out.</a:t>
            </a:r>
          </a:p>
          <a:p>
            <a:pPr marL="285750" indent="-285750">
              <a:lnSpc>
                <a:spcPct val="150000"/>
              </a:lnSpc>
              <a:buFont typeface="Wingdings" pitchFamily="2" charset="2"/>
              <a:buChar char="v"/>
            </a:pPr>
            <a:r>
              <a:rPr lang="en-IN" sz="2000" dirty="0">
                <a:latin typeface="Calibri" panose="020F0502020204030204" pitchFamily="34" charset="0"/>
                <a:ea typeface="Calibri" panose="020F0502020204030204" pitchFamily="34" charset="0"/>
                <a:cs typeface="Calibri" panose="020F0502020204030204" pitchFamily="34" charset="0"/>
              </a:rPr>
              <a:t>How many copies of the book titled "The Lost Tribe" are owned by the library branch whose name is "Sharpstown"? </a:t>
            </a:r>
          </a:p>
          <a:p>
            <a:pPr marL="285750" indent="-285750">
              <a:lnSpc>
                <a:spcPct val="150000"/>
              </a:lnSpc>
              <a:buFont typeface="Wingdings" pitchFamily="2" charset="2"/>
              <a:buChar char="v"/>
            </a:pPr>
            <a:r>
              <a:rPr lang="en-IN" sz="2000" dirty="0">
                <a:latin typeface="Calibri" panose="020F0502020204030204" pitchFamily="34" charset="0"/>
                <a:ea typeface="Calibri" panose="020F0502020204030204" pitchFamily="34" charset="0"/>
                <a:cs typeface="Calibri" panose="020F0502020204030204" pitchFamily="34" charset="0"/>
              </a:rPr>
              <a:t>For each book that is loaned out from the "Sharpstown" branch and whose Due Date is 2/3/18, retrieve the book title, the borrower's name, and the borrower's address. </a:t>
            </a:r>
          </a:p>
          <a:p>
            <a:pPr marL="285750" indent="-285750">
              <a:lnSpc>
                <a:spcPct val="150000"/>
              </a:lnSpc>
              <a:buFont typeface="Wingdings" pitchFamily="2" charset="2"/>
              <a:buChar char="v"/>
            </a:pPr>
            <a:r>
              <a:rPr lang="en-IN" sz="2000" dirty="0">
                <a:latin typeface="Calibri" panose="020F0502020204030204" pitchFamily="34" charset="0"/>
                <a:ea typeface="Calibri" panose="020F0502020204030204" pitchFamily="34" charset="0"/>
                <a:cs typeface="Calibri" panose="020F0502020204030204" pitchFamily="34" charset="0"/>
              </a:rPr>
              <a:t>For each book authored by "Stephen King", retrieve the title and the number of copies owned by the library branch whose name is "Central".</a:t>
            </a:r>
          </a:p>
        </p:txBody>
      </p:sp>
      <p:sp>
        <p:nvSpPr>
          <p:cNvPr id="25" name="TextBox 24">
            <a:extLst>
              <a:ext uri="{FF2B5EF4-FFF2-40B4-BE49-F238E27FC236}">
                <a16:creationId xmlns:a16="http://schemas.microsoft.com/office/drawing/2014/main" id="{B45EAA93-B959-F73A-DBC7-AB8ACB66E423}"/>
              </a:ext>
            </a:extLst>
          </p:cNvPr>
          <p:cNvSpPr txBox="1"/>
          <p:nvPr/>
        </p:nvSpPr>
        <p:spPr>
          <a:xfrm>
            <a:off x="1578428" y="281107"/>
            <a:ext cx="6707155" cy="646331"/>
          </a:xfrm>
          <a:prstGeom prst="rect">
            <a:avLst/>
          </a:prstGeom>
          <a:noFill/>
        </p:spPr>
        <p:txBody>
          <a:bodyPr wrap="square" rtlCol="0">
            <a:spAutoFit/>
          </a:bodyPr>
          <a:lstStyle/>
          <a:p>
            <a:r>
              <a:rPr lang="en-US" sz="3600" b="1" u="sng" dirty="0">
                <a:solidFill>
                  <a:srgbClr val="FF0000"/>
                </a:solidFill>
                <a:latin typeface="Calibri" panose="020F0502020204030204" pitchFamily="34" charset="0"/>
                <a:ea typeface="Calibri" panose="020F0502020204030204" pitchFamily="34" charset="0"/>
                <a:cs typeface="Calibri" panose="020F0502020204030204" pitchFamily="34" charset="0"/>
              </a:rPr>
              <a:t> KEY  ANALYSIS  QUESTION </a:t>
            </a:r>
          </a:p>
        </p:txBody>
      </p:sp>
      <p:pic>
        <p:nvPicPr>
          <p:cNvPr id="2" name="Picture 1">
            <a:extLst>
              <a:ext uri="{FF2B5EF4-FFF2-40B4-BE49-F238E27FC236}">
                <a16:creationId xmlns:a16="http://schemas.microsoft.com/office/drawing/2014/main" id="{8037043B-0DE1-9B55-8C81-EC006BE79CA5}"/>
              </a:ext>
            </a:extLst>
          </p:cNvPr>
          <p:cNvPicPr>
            <a:picLocks noChangeAspect="1"/>
          </p:cNvPicPr>
          <p:nvPr/>
        </p:nvPicPr>
        <p:blipFill>
          <a:blip r:embed="rId2"/>
          <a:srcRect l="16399" t="25541" r="13826" b="5429"/>
          <a:stretch>
            <a:fillRect/>
          </a:stretch>
        </p:blipFill>
        <p:spPr>
          <a:xfrm>
            <a:off x="638122" y="0"/>
            <a:ext cx="1016506" cy="1025432"/>
          </a:xfrm>
          <a:prstGeom prst="rect">
            <a:avLst/>
          </a:prstGeom>
        </p:spPr>
      </p:pic>
    </p:spTree>
    <p:extLst>
      <p:ext uri="{BB962C8B-B14F-4D97-AF65-F5344CB8AC3E}">
        <p14:creationId xmlns:p14="http://schemas.microsoft.com/office/powerpoint/2010/main" val="2819457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C20759-126E-9FA9-F64D-F91A07EB8191}"/>
              </a:ext>
            </a:extLst>
          </p:cNvPr>
          <p:cNvSpPr txBox="1"/>
          <p:nvPr/>
        </p:nvSpPr>
        <p:spPr>
          <a:xfrm>
            <a:off x="1042220" y="344128"/>
            <a:ext cx="7157884" cy="646331"/>
          </a:xfrm>
          <a:prstGeom prst="rect">
            <a:avLst/>
          </a:prstGeom>
          <a:noFill/>
        </p:spPr>
        <p:txBody>
          <a:bodyPr wrap="square" rtlCol="0">
            <a:spAutoFit/>
          </a:bodyPr>
          <a:lstStyle/>
          <a:p>
            <a:r>
              <a:rPr lang="en-US" sz="3600" b="1" u="sng" dirty="0">
                <a:solidFill>
                  <a:srgbClr val="FF0000"/>
                </a:solidFill>
                <a:latin typeface="Calibri" panose="020F0502020204030204" pitchFamily="34" charset="0"/>
                <a:ea typeface="Calibri" panose="020F0502020204030204" pitchFamily="34" charset="0"/>
                <a:cs typeface="Calibri" panose="020F0502020204030204" pitchFamily="34" charset="0"/>
              </a:rPr>
              <a:t>   SQL QUERY &amp; RESULTS</a:t>
            </a:r>
          </a:p>
        </p:txBody>
      </p:sp>
      <p:pic>
        <p:nvPicPr>
          <p:cNvPr id="2" name="Picture 1">
            <a:extLst>
              <a:ext uri="{FF2B5EF4-FFF2-40B4-BE49-F238E27FC236}">
                <a16:creationId xmlns:a16="http://schemas.microsoft.com/office/drawing/2014/main" id="{A68B5B36-ACA6-A22F-F0CC-E01247529C02}"/>
              </a:ext>
            </a:extLst>
          </p:cNvPr>
          <p:cNvPicPr>
            <a:picLocks noChangeAspect="1"/>
          </p:cNvPicPr>
          <p:nvPr/>
        </p:nvPicPr>
        <p:blipFill>
          <a:blip r:embed="rId2"/>
          <a:srcRect l="16399" t="25541" r="13826" b="5429"/>
          <a:stretch>
            <a:fillRect/>
          </a:stretch>
        </p:blipFill>
        <p:spPr>
          <a:xfrm>
            <a:off x="326521" y="112318"/>
            <a:ext cx="1016506" cy="1025432"/>
          </a:xfrm>
          <a:prstGeom prst="rect">
            <a:avLst/>
          </a:prstGeom>
        </p:spPr>
      </p:pic>
      <p:sp>
        <p:nvSpPr>
          <p:cNvPr id="3" name="TextBox 2">
            <a:extLst>
              <a:ext uri="{FF2B5EF4-FFF2-40B4-BE49-F238E27FC236}">
                <a16:creationId xmlns:a16="http://schemas.microsoft.com/office/drawing/2014/main" id="{6970F726-5DC2-1195-DC2A-60B5F98DEDDC}"/>
              </a:ext>
            </a:extLst>
          </p:cNvPr>
          <p:cNvSpPr txBox="1"/>
          <p:nvPr/>
        </p:nvSpPr>
        <p:spPr>
          <a:xfrm>
            <a:off x="743942" y="1262743"/>
            <a:ext cx="10141772" cy="707886"/>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1. How many copies of the book titled "The Lost Tribe" are owned by the library branch whose name is "Sharpstown"? </a:t>
            </a: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553B352B-6999-8402-04D0-71F6CEECE365}"/>
              </a:ext>
            </a:extLst>
          </p:cNvPr>
          <p:cNvPicPr>
            <a:picLocks noChangeAspect="1"/>
          </p:cNvPicPr>
          <p:nvPr/>
        </p:nvPicPr>
        <p:blipFill>
          <a:blip r:embed="rId3"/>
          <a:stretch>
            <a:fillRect/>
          </a:stretch>
        </p:blipFill>
        <p:spPr>
          <a:xfrm>
            <a:off x="743942" y="1970629"/>
            <a:ext cx="7039344" cy="3730117"/>
          </a:xfrm>
          <a:prstGeom prst="rect">
            <a:avLst/>
          </a:prstGeom>
        </p:spPr>
      </p:pic>
      <p:pic>
        <p:nvPicPr>
          <p:cNvPr id="9" name="Picture 8">
            <a:extLst>
              <a:ext uri="{FF2B5EF4-FFF2-40B4-BE49-F238E27FC236}">
                <a16:creationId xmlns:a16="http://schemas.microsoft.com/office/drawing/2014/main" id="{ACE6D7F1-6DE1-C71E-B705-2474AF31A54F}"/>
              </a:ext>
            </a:extLst>
          </p:cNvPr>
          <p:cNvPicPr>
            <a:picLocks noChangeAspect="1"/>
          </p:cNvPicPr>
          <p:nvPr/>
        </p:nvPicPr>
        <p:blipFill>
          <a:blip r:embed="rId4"/>
          <a:stretch>
            <a:fillRect/>
          </a:stretch>
        </p:blipFill>
        <p:spPr>
          <a:xfrm>
            <a:off x="7072001" y="2869472"/>
            <a:ext cx="3570514" cy="1121984"/>
          </a:xfrm>
          <a:prstGeom prst="rect">
            <a:avLst/>
          </a:prstGeom>
        </p:spPr>
      </p:pic>
      <p:sp>
        <p:nvSpPr>
          <p:cNvPr id="10" name="Rectangle 9">
            <a:extLst>
              <a:ext uri="{FF2B5EF4-FFF2-40B4-BE49-F238E27FC236}">
                <a16:creationId xmlns:a16="http://schemas.microsoft.com/office/drawing/2014/main" id="{500B15CE-76A5-E2B7-DAA5-5679905E0D1B}"/>
              </a:ext>
            </a:extLst>
          </p:cNvPr>
          <p:cNvSpPr/>
          <p:nvPr/>
        </p:nvSpPr>
        <p:spPr>
          <a:xfrm>
            <a:off x="522514" y="1137750"/>
            <a:ext cx="10925544" cy="4990907"/>
          </a:xfrm>
          <a:prstGeom prst="rect">
            <a:avLst/>
          </a:prstGeom>
          <a:noFill/>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07500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01C4B-D556-CED0-E79E-9E751876B460}"/>
              </a:ext>
            </a:extLst>
          </p:cNvPr>
          <p:cNvSpPr>
            <a:spLocks noGrp="1"/>
          </p:cNvSpPr>
          <p:nvPr>
            <p:ph type="title"/>
          </p:nvPr>
        </p:nvSpPr>
        <p:spPr>
          <a:xfrm>
            <a:off x="838200" y="365126"/>
            <a:ext cx="10515600" cy="897618"/>
          </a:xfrm>
        </p:spPr>
        <p:txBody>
          <a:bodyPr>
            <a:normAutofit/>
          </a:bodyPr>
          <a:lstStyle/>
          <a:p>
            <a:r>
              <a:rPr lang="en-US" sz="3600" b="1" u="sng" dirty="0">
                <a:solidFill>
                  <a:srgbClr val="FF0000"/>
                </a:solidFill>
                <a:latin typeface="Calibri" panose="020F0502020204030204" pitchFamily="34" charset="0"/>
                <a:ea typeface="Calibri" panose="020F0502020204030204" pitchFamily="34" charset="0"/>
                <a:cs typeface="Calibri" panose="020F0502020204030204" pitchFamily="34" charset="0"/>
              </a:rPr>
              <a:t>     SQL QUERY &amp; RESULTS</a:t>
            </a:r>
            <a:endParaRPr lang="en-IN" sz="3600" u="sng" dirty="0"/>
          </a:p>
        </p:txBody>
      </p:sp>
      <p:pic>
        <p:nvPicPr>
          <p:cNvPr id="3" name="Picture 2">
            <a:extLst>
              <a:ext uri="{FF2B5EF4-FFF2-40B4-BE49-F238E27FC236}">
                <a16:creationId xmlns:a16="http://schemas.microsoft.com/office/drawing/2014/main" id="{6372C1E1-463D-CE94-C9E6-DF6FDBA1D904}"/>
              </a:ext>
            </a:extLst>
          </p:cNvPr>
          <p:cNvPicPr>
            <a:picLocks noChangeAspect="1"/>
          </p:cNvPicPr>
          <p:nvPr/>
        </p:nvPicPr>
        <p:blipFill>
          <a:blip r:embed="rId2"/>
          <a:srcRect l="16399" t="25541" r="13826" b="5429"/>
          <a:stretch>
            <a:fillRect/>
          </a:stretch>
        </p:blipFill>
        <p:spPr>
          <a:xfrm>
            <a:off x="427918" y="237312"/>
            <a:ext cx="1016506" cy="1025432"/>
          </a:xfrm>
          <a:prstGeom prst="rect">
            <a:avLst/>
          </a:prstGeom>
        </p:spPr>
      </p:pic>
      <p:sp>
        <p:nvSpPr>
          <p:cNvPr id="4" name="TextBox 3">
            <a:extLst>
              <a:ext uri="{FF2B5EF4-FFF2-40B4-BE49-F238E27FC236}">
                <a16:creationId xmlns:a16="http://schemas.microsoft.com/office/drawing/2014/main" id="{E24B3F07-AE3F-1186-67A5-5D2D6EF2B395}"/>
              </a:ext>
            </a:extLst>
          </p:cNvPr>
          <p:cNvSpPr txBox="1"/>
          <p:nvPr/>
        </p:nvSpPr>
        <p:spPr>
          <a:xfrm>
            <a:off x="762000" y="1360714"/>
            <a:ext cx="10689771" cy="400110"/>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2. How many copies of the book titled "The Lost Tribe" are owned by each library branch? </a:t>
            </a: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C8AC34B1-6B9D-96E4-A70E-81F0D80C00F3}"/>
              </a:ext>
            </a:extLst>
          </p:cNvPr>
          <p:cNvPicPr>
            <a:picLocks noChangeAspect="1"/>
          </p:cNvPicPr>
          <p:nvPr/>
        </p:nvPicPr>
        <p:blipFill>
          <a:blip r:embed="rId3"/>
          <a:stretch>
            <a:fillRect/>
          </a:stretch>
        </p:blipFill>
        <p:spPr>
          <a:xfrm>
            <a:off x="642257" y="2044216"/>
            <a:ext cx="8266937" cy="3085256"/>
          </a:xfrm>
          <a:prstGeom prst="rect">
            <a:avLst/>
          </a:prstGeom>
        </p:spPr>
      </p:pic>
      <p:pic>
        <p:nvPicPr>
          <p:cNvPr id="10" name="Picture 9">
            <a:extLst>
              <a:ext uri="{FF2B5EF4-FFF2-40B4-BE49-F238E27FC236}">
                <a16:creationId xmlns:a16="http://schemas.microsoft.com/office/drawing/2014/main" id="{1520387D-42AB-BDAF-4C92-CF84AEBE909A}"/>
              </a:ext>
            </a:extLst>
          </p:cNvPr>
          <p:cNvPicPr>
            <a:picLocks noChangeAspect="1"/>
          </p:cNvPicPr>
          <p:nvPr/>
        </p:nvPicPr>
        <p:blipFill>
          <a:blip r:embed="rId4"/>
          <a:stretch>
            <a:fillRect/>
          </a:stretch>
        </p:blipFill>
        <p:spPr>
          <a:xfrm>
            <a:off x="7085837" y="2659739"/>
            <a:ext cx="3646714" cy="1382486"/>
          </a:xfrm>
          <a:prstGeom prst="rect">
            <a:avLst/>
          </a:prstGeom>
        </p:spPr>
      </p:pic>
      <p:sp>
        <p:nvSpPr>
          <p:cNvPr id="11" name="Rectangle 10">
            <a:extLst>
              <a:ext uri="{FF2B5EF4-FFF2-40B4-BE49-F238E27FC236}">
                <a16:creationId xmlns:a16="http://schemas.microsoft.com/office/drawing/2014/main" id="{B7A72FD4-32C6-FB01-F8CD-D0D4942984DA}"/>
              </a:ext>
            </a:extLst>
          </p:cNvPr>
          <p:cNvSpPr/>
          <p:nvPr/>
        </p:nvSpPr>
        <p:spPr>
          <a:xfrm>
            <a:off x="642257" y="1262744"/>
            <a:ext cx="10809514" cy="469174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76720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E082-5F79-C07A-DCDF-20A2F7E3AD76}"/>
              </a:ext>
            </a:extLst>
          </p:cNvPr>
          <p:cNvSpPr>
            <a:spLocks noGrp="1"/>
          </p:cNvSpPr>
          <p:nvPr>
            <p:ph type="title"/>
          </p:nvPr>
        </p:nvSpPr>
        <p:spPr>
          <a:xfrm>
            <a:off x="1458685" y="365127"/>
            <a:ext cx="9895114" cy="714795"/>
          </a:xfrm>
        </p:spPr>
        <p:txBody>
          <a:bodyPr/>
          <a:lstStyle/>
          <a:p>
            <a:r>
              <a:rPr lang="en-US" b="1" u="sng" dirty="0">
                <a:solidFill>
                  <a:srgbClr val="FF0000"/>
                </a:solidFill>
                <a:latin typeface="Calibri" panose="020F0502020204030204" pitchFamily="34" charset="0"/>
                <a:ea typeface="Calibri" panose="020F0502020204030204" pitchFamily="34" charset="0"/>
                <a:cs typeface="Calibri" panose="020F0502020204030204" pitchFamily="34" charset="0"/>
              </a:rPr>
              <a:t> SQL QUERY &amp; RESULTS</a:t>
            </a:r>
            <a:endParaRPr lang="en-IN" u="sng" dirty="0"/>
          </a:p>
        </p:txBody>
      </p:sp>
      <p:sp>
        <p:nvSpPr>
          <p:cNvPr id="3" name="TextBox 2">
            <a:extLst>
              <a:ext uri="{FF2B5EF4-FFF2-40B4-BE49-F238E27FC236}">
                <a16:creationId xmlns:a16="http://schemas.microsoft.com/office/drawing/2014/main" id="{1BF340B3-ADD6-7576-C3FA-04DBE469A253}"/>
              </a:ext>
            </a:extLst>
          </p:cNvPr>
          <p:cNvSpPr txBox="1"/>
          <p:nvPr/>
        </p:nvSpPr>
        <p:spPr>
          <a:xfrm>
            <a:off x="794657" y="1411376"/>
            <a:ext cx="11223171" cy="400110"/>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3. Retrieve the names of all borrowers who do not have any books checked out.</a:t>
            </a: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32F8E8AB-3B57-9CEA-5D7E-9E3885C31BD7}"/>
              </a:ext>
            </a:extLst>
          </p:cNvPr>
          <p:cNvPicPr>
            <a:picLocks noChangeAspect="1"/>
          </p:cNvPicPr>
          <p:nvPr/>
        </p:nvPicPr>
        <p:blipFill>
          <a:blip r:embed="rId2"/>
          <a:stretch>
            <a:fillRect/>
          </a:stretch>
        </p:blipFill>
        <p:spPr>
          <a:xfrm>
            <a:off x="794657" y="2191779"/>
            <a:ext cx="7800473" cy="2240280"/>
          </a:xfrm>
          <a:prstGeom prst="rect">
            <a:avLst/>
          </a:prstGeom>
        </p:spPr>
      </p:pic>
      <p:pic>
        <p:nvPicPr>
          <p:cNvPr id="8" name="Picture 7">
            <a:extLst>
              <a:ext uri="{FF2B5EF4-FFF2-40B4-BE49-F238E27FC236}">
                <a16:creationId xmlns:a16="http://schemas.microsoft.com/office/drawing/2014/main" id="{33314AD6-D5D6-C16C-4822-6423EEED0F99}"/>
              </a:ext>
            </a:extLst>
          </p:cNvPr>
          <p:cNvPicPr>
            <a:picLocks noChangeAspect="1"/>
          </p:cNvPicPr>
          <p:nvPr/>
        </p:nvPicPr>
        <p:blipFill>
          <a:blip r:embed="rId3"/>
          <a:stretch>
            <a:fillRect/>
          </a:stretch>
        </p:blipFill>
        <p:spPr>
          <a:xfrm>
            <a:off x="7183526" y="2552256"/>
            <a:ext cx="3199812" cy="759663"/>
          </a:xfrm>
          <a:prstGeom prst="rect">
            <a:avLst/>
          </a:prstGeom>
        </p:spPr>
      </p:pic>
      <p:pic>
        <p:nvPicPr>
          <p:cNvPr id="9" name="Picture 8">
            <a:extLst>
              <a:ext uri="{FF2B5EF4-FFF2-40B4-BE49-F238E27FC236}">
                <a16:creationId xmlns:a16="http://schemas.microsoft.com/office/drawing/2014/main" id="{FD6046D9-80DA-C342-2372-FB9EE94A65FC}"/>
              </a:ext>
            </a:extLst>
          </p:cNvPr>
          <p:cNvPicPr>
            <a:picLocks noChangeAspect="1"/>
          </p:cNvPicPr>
          <p:nvPr/>
        </p:nvPicPr>
        <p:blipFill>
          <a:blip r:embed="rId4"/>
          <a:srcRect l="16399" t="25541" r="13826" b="5429"/>
          <a:stretch>
            <a:fillRect/>
          </a:stretch>
        </p:blipFill>
        <p:spPr>
          <a:xfrm>
            <a:off x="620486" y="174179"/>
            <a:ext cx="1077686" cy="1065544"/>
          </a:xfrm>
          <a:prstGeom prst="rect">
            <a:avLst/>
          </a:prstGeom>
        </p:spPr>
      </p:pic>
      <p:sp>
        <p:nvSpPr>
          <p:cNvPr id="10" name="Rectangle 9">
            <a:extLst>
              <a:ext uri="{FF2B5EF4-FFF2-40B4-BE49-F238E27FC236}">
                <a16:creationId xmlns:a16="http://schemas.microsoft.com/office/drawing/2014/main" id="{5FDE1046-947E-4753-9EF8-422BBD0B2764}"/>
              </a:ext>
            </a:extLst>
          </p:cNvPr>
          <p:cNvSpPr/>
          <p:nvPr/>
        </p:nvSpPr>
        <p:spPr>
          <a:xfrm>
            <a:off x="620486" y="1270870"/>
            <a:ext cx="10733313" cy="4661844"/>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5242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6550-9212-4496-19D7-BD0AF706561E}"/>
              </a:ext>
            </a:extLst>
          </p:cNvPr>
          <p:cNvSpPr>
            <a:spLocks noGrp="1"/>
          </p:cNvSpPr>
          <p:nvPr>
            <p:ph type="title"/>
          </p:nvPr>
        </p:nvSpPr>
        <p:spPr>
          <a:xfrm>
            <a:off x="1611086" y="515124"/>
            <a:ext cx="9742714" cy="707886"/>
          </a:xfrm>
        </p:spPr>
        <p:txBody>
          <a:bodyPr/>
          <a:lstStyle/>
          <a:p>
            <a:r>
              <a:rPr lang="en-US" b="1" u="sng" dirty="0">
                <a:solidFill>
                  <a:srgbClr val="FF0000"/>
                </a:solidFill>
                <a:latin typeface="Calibri" panose="020F0502020204030204" pitchFamily="34" charset="0"/>
                <a:ea typeface="Calibri" panose="020F0502020204030204" pitchFamily="34" charset="0"/>
                <a:cs typeface="Calibri" panose="020F0502020204030204" pitchFamily="34" charset="0"/>
              </a:rPr>
              <a:t>SQL QUERY &amp; RESULTS</a:t>
            </a:r>
            <a:endParaRPr lang="en-IN" u="sng" dirty="0"/>
          </a:p>
        </p:txBody>
      </p:sp>
      <p:sp>
        <p:nvSpPr>
          <p:cNvPr id="3" name="TextBox 2">
            <a:extLst>
              <a:ext uri="{FF2B5EF4-FFF2-40B4-BE49-F238E27FC236}">
                <a16:creationId xmlns:a16="http://schemas.microsoft.com/office/drawing/2014/main" id="{98B3E42B-AADE-1CCF-13DB-5D23B2E7E541}"/>
              </a:ext>
            </a:extLst>
          </p:cNvPr>
          <p:cNvSpPr txBox="1"/>
          <p:nvPr/>
        </p:nvSpPr>
        <p:spPr>
          <a:xfrm>
            <a:off x="788670" y="1367997"/>
            <a:ext cx="10938510" cy="707886"/>
          </a:xfrm>
          <a:prstGeom prst="rect">
            <a:avLst/>
          </a:prstGeom>
          <a:noFill/>
        </p:spPr>
        <p:txBody>
          <a:bodyPr wrap="squar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4. For each book that is loaned out from the "Sharpstown" branch and whose Due Date is 2/3/18, retrieve the book title, the borrower's name, and the borrower's address. </a:t>
            </a:r>
          </a:p>
        </p:txBody>
      </p:sp>
      <p:pic>
        <p:nvPicPr>
          <p:cNvPr id="5" name="Picture 4">
            <a:extLst>
              <a:ext uri="{FF2B5EF4-FFF2-40B4-BE49-F238E27FC236}">
                <a16:creationId xmlns:a16="http://schemas.microsoft.com/office/drawing/2014/main" id="{C39DBE00-0ECC-7B85-FB14-F70D314D0CB7}"/>
              </a:ext>
            </a:extLst>
          </p:cNvPr>
          <p:cNvPicPr>
            <a:picLocks noChangeAspect="1"/>
          </p:cNvPicPr>
          <p:nvPr/>
        </p:nvPicPr>
        <p:blipFill>
          <a:blip r:embed="rId2"/>
          <a:stretch>
            <a:fillRect/>
          </a:stretch>
        </p:blipFill>
        <p:spPr>
          <a:xfrm>
            <a:off x="788670" y="2345916"/>
            <a:ext cx="6842216" cy="3278485"/>
          </a:xfrm>
          <a:prstGeom prst="rect">
            <a:avLst/>
          </a:prstGeom>
        </p:spPr>
      </p:pic>
      <p:pic>
        <p:nvPicPr>
          <p:cNvPr id="7" name="Picture 6">
            <a:extLst>
              <a:ext uri="{FF2B5EF4-FFF2-40B4-BE49-F238E27FC236}">
                <a16:creationId xmlns:a16="http://schemas.microsoft.com/office/drawing/2014/main" id="{C76951DE-2338-BB0C-D285-CA1FAABCB81D}"/>
              </a:ext>
            </a:extLst>
          </p:cNvPr>
          <p:cNvPicPr>
            <a:picLocks noChangeAspect="1"/>
          </p:cNvPicPr>
          <p:nvPr/>
        </p:nvPicPr>
        <p:blipFill>
          <a:blip r:embed="rId3"/>
          <a:stretch>
            <a:fillRect/>
          </a:stretch>
        </p:blipFill>
        <p:spPr>
          <a:xfrm>
            <a:off x="6395358" y="3429000"/>
            <a:ext cx="5493032" cy="1282766"/>
          </a:xfrm>
          <a:prstGeom prst="rect">
            <a:avLst/>
          </a:prstGeom>
        </p:spPr>
      </p:pic>
      <p:pic>
        <p:nvPicPr>
          <p:cNvPr id="8" name="Picture 7">
            <a:extLst>
              <a:ext uri="{FF2B5EF4-FFF2-40B4-BE49-F238E27FC236}">
                <a16:creationId xmlns:a16="http://schemas.microsoft.com/office/drawing/2014/main" id="{BAA75A2C-009B-3875-5342-944F30AE7AE6}"/>
              </a:ext>
            </a:extLst>
          </p:cNvPr>
          <p:cNvPicPr>
            <a:picLocks noChangeAspect="1"/>
          </p:cNvPicPr>
          <p:nvPr/>
        </p:nvPicPr>
        <p:blipFill>
          <a:blip r:embed="rId4"/>
          <a:srcRect l="16399" t="25541" r="13826" b="5429"/>
          <a:stretch>
            <a:fillRect/>
          </a:stretch>
        </p:blipFill>
        <p:spPr>
          <a:xfrm>
            <a:off x="594580" y="281352"/>
            <a:ext cx="1016506" cy="1025432"/>
          </a:xfrm>
          <a:prstGeom prst="rect">
            <a:avLst/>
          </a:prstGeom>
        </p:spPr>
      </p:pic>
      <p:sp>
        <p:nvSpPr>
          <p:cNvPr id="9" name="Rectangle 8">
            <a:extLst>
              <a:ext uri="{FF2B5EF4-FFF2-40B4-BE49-F238E27FC236}">
                <a16:creationId xmlns:a16="http://schemas.microsoft.com/office/drawing/2014/main" id="{D8BC3553-C8B1-9D6D-CF56-676FAF5CEE36}"/>
              </a:ext>
            </a:extLst>
          </p:cNvPr>
          <p:cNvSpPr/>
          <p:nvPr/>
        </p:nvSpPr>
        <p:spPr>
          <a:xfrm>
            <a:off x="685800" y="1367997"/>
            <a:ext cx="11202590" cy="4651803"/>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62347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BC767-CB66-F079-6EA2-E50D25F201E1}"/>
              </a:ext>
            </a:extLst>
          </p:cNvPr>
          <p:cNvSpPr>
            <a:spLocks noGrp="1"/>
          </p:cNvSpPr>
          <p:nvPr>
            <p:ph type="title"/>
          </p:nvPr>
        </p:nvSpPr>
        <p:spPr>
          <a:xfrm>
            <a:off x="1571677" y="309972"/>
            <a:ext cx="9782122" cy="1256846"/>
          </a:xfrm>
        </p:spPr>
        <p:txBody>
          <a:bodyPr>
            <a:normAutofit/>
          </a:bodyPr>
          <a:lstStyle/>
          <a:p>
            <a:r>
              <a:rPr lang="en-US" sz="3600" b="1" u="sng" dirty="0">
                <a:solidFill>
                  <a:srgbClr val="FF0000"/>
                </a:solidFill>
                <a:latin typeface="Calibri" panose="020F0502020204030204" pitchFamily="34" charset="0"/>
                <a:ea typeface="Calibri" panose="020F0502020204030204" pitchFamily="34" charset="0"/>
                <a:cs typeface="Calibri" panose="020F0502020204030204" pitchFamily="34" charset="0"/>
              </a:rPr>
              <a:t>SQL QUERY &amp; RESULTS</a:t>
            </a:r>
            <a:endParaRPr lang="en-IN" sz="3600" u="sng" dirty="0"/>
          </a:p>
        </p:txBody>
      </p:sp>
      <p:sp>
        <p:nvSpPr>
          <p:cNvPr id="3" name="TextBox 2">
            <a:extLst>
              <a:ext uri="{FF2B5EF4-FFF2-40B4-BE49-F238E27FC236}">
                <a16:creationId xmlns:a16="http://schemas.microsoft.com/office/drawing/2014/main" id="{A101167F-EC1C-0948-7A88-D759A519D7C1}"/>
              </a:ext>
            </a:extLst>
          </p:cNvPr>
          <p:cNvSpPr txBox="1"/>
          <p:nvPr/>
        </p:nvSpPr>
        <p:spPr>
          <a:xfrm>
            <a:off x="631371" y="1382486"/>
            <a:ext cx="11005458" cy="707886"/>
          </a:xfrm>
          <a:prstGeom prst="rect">
            <a:avLst/>
          </a:prstGeom>
          <a:noFill/>
        </p:spPr>
        <p:txBody>
          <a:bodyPr wrap="squar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5. For each library branch, retrieve the branch name and the total number of books loaned out from that branch. </a:t>
            </a:r>
          </a:p>
        </p:txBody>
      </p:sp>
      <p:pic>
        <p:nvPicPr>
          <p:cNvPr id="5" name="Picture 4">
            <a:extLst>
              <a:ext uri="{FF2B5EF4-FFF2-40B4-BE49-F238E27FC236}">
                <a16:creationId xmlns:a16="http://schemas.microsoft.com/office/drawing/2014/main" id="{97AF3C94-B85A-1CC2-9DC8-C7B8036C25E4}"/>
              </a:ext>
            </a:extLst>
          </p:cNvPr>
          <p:cNvPicPr>
            <a:picLocks noChangeAspect="1"/>
          </p:cNvPicPr>
          <p:nvPr/>
        </p:nvPicPr>
        <p:blipFill>
          <a:blip r:embed="rId2"/>
          <a:stretch>
            <a:fillRect/>
          </a:stretch>
        </p:blipFill>
        <p:spPr>
          <a:xfrm>
            <a:off x="631371" y="2405239"/>
            <a:ext cx="7500258" cy="2275302"/>
          </a:xfrm>
          <a:prstGeom prst="rect">
            <a:avLst/>
          </a:prstGeom>
        </p:spPr>
      </p:pic>
      <p:pic>
        <p:nvPicPr>
          <p:cNvPr id="7" name="Picture 6">
            <a:extLst>
              <a:ext uri="{FF2B5EF4-FFF2-40B4-BE49-F238E27FC236}">
                <a16:creationId xmlns:a16="http://schemas.microsoft.com/office/drawing/2014/main" id="{9FE49AEE-4204-93ED-A7F2-D292C19657C3}"/>
              </a:ext>
            </a:extLst>
          </p:cNvPr>
          <p:cNvPicPr>
            <a:picLocks noChangeAspect="1"/>
          </p:cNvPicPr>
          <p:nvPr/>
        </p:nvPicPr>
        <p:blipFill>
          <a:blip r:embed="rId3"/>
          <a:stretch>
            <a:fillRect/>
          </a:stretch>
        </p:blipFill>
        <p:spPr>
          <a:xfrm>
            <a:off x="6630498" y="2229797"/>
            <a:ext cx="3002261" cy="1313093"/>
          </a:xfrm>
          <a:prstGeom prst="rect">
            <a:avLst/>
          </a:prstGeom>
        </p:spPr>
      </p:pic>
      <p:pic>
        <p:nvPicPr>
          <p:cNvPr id="8" name="Picture 7">
            <a:extLst>
              <a:ext uri="{FF2B5EF4-FFF2-40B4-BE49-F238E27FC236}">
                <a16:creationId xmlns:a16="http://schemas.microsoft.com/office/drawing/2014/main" id="{CA74C745-EA3C-1F30-47AD-4192F4208796}"/>
              </a:ext>
            </a:extLst>
          </p:cNvPr>
          <p:cNvPicPr>
            <a:picLocks noChangeAspect="1"/>
          </p:cNvPicPr>
          <p:nvPr/>
        </p:nvPicPr>
        <p:blipFill>
          <a:blip r:embed="rId4"/>
          <a:srcRect l="16399" t="25541" r="13826" b="5429"/>
          <a:stretch>
            <a:fillRect/>
          </a:stretch>
        </p:blipFill>
        <p:spPr>
          <a:xfrm>
            <a:off x="555171" y="361090"/>
            <a:ext cx="1016506" cy="1025432"/>
          </a:xfrm>
          <a:prstGeom prst="rect">
            <a:avLst/>
          </a:prstGeom>
        </p:spPr>
      </p:pic>
      <p:sp>
        <p:nvSpPr>
          <p:cNvPr id="9" name="Rectangle 8">
            <a:extLst>
              <a:ext uri="{FF2B5EF4-FFF2-40B4-BE49-F238E27FC236}">
                <a16:creationId xmlns:a16="http://schemas.microsoft.com/office/drawing/2014/main" id="{D0E198E6-8622-C608-1BFF-7059564532BF}"/>
              </a:ext>
            </a:extLst>
          </p:cNvPr>
          <p:cNvSpPr/>
          <p:nvPr/>
        </p:nvSpPr>
        <p:spPr>
          <a:xfrm>
            <a:off x="555171" y="1437640"/>
            <a:ext cx="11005458" cy="451757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80458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DF580-A684-52CB-4522-27506489AC9F}"/>
              </a:ext>
            </a:extLst>
          </p:cNvPr>
          <p:cNvSpPr>
            <a:spLocks noGrp="1"/>
          </p:cNvSpPr>
          <p:nvPr>
            <p:ph type="title"/>
          </p:nvPr>
        </p:nvSpPr>
        <p:spPr>
          <a:xfrm>
            <a:off x="1513114" y="365125"/>
            <a:ext cx="9840686" cy="919389"/>
          </a:xfrm>
        </p:spPr>
        <p:txBody>
          <a:bodyPr>
            <a:normAutofit/>
          </a:bodyPr>
          <a:lstStyle/>
          <a:p>
            <a:r>
              <a:rPr lang="en-US" sz="3600" b="1" u="sng" dirty="0">
                <a:solidFill>
                  <a:srgbClr val="FF0000"/>
                </a:solidFill>
                <a:latin typeface="Calibri" panose="020F0502020204030204" pitchFamily="34" charset="0"/>
                <a:ea typeface="Calibri" panose="020F0502020204030204" pitchFamily="34" charset="0"/>
                <a:cs typeface="Calibri" panose="020F0502020204030204" pitchFamily="34" charset="0"/>
              </a:rPr>
              <a:t>SQL QUERY &amp; RESULTS</a:t>
            </a:r>
            <a:endParaRPr lang="en-IN" sz="3600" u="sng" dirty="0"/>
          </a:p>
        </p:txBody>
      </p:sp>
      <p:sp>
        <p:nvSpPr>
          <p:cNvPr id="3" name="TextBox 2">
            <a:extLst>
              <a:ext uri="{FF2B5EF4-FFF2-40B4-BE49-F238E27FC236}">
                <a16:creationId xmlns:a16="http://schemas.microsoft.com/office/drawing/2014/main" id="{D1A3E4CC-79BD-7710-EDC2-980C9E7AFEE0}"/>
              </a:ext>
            </a:extLst>
          </p:cNvPr>
          <p:cNvSpPr txBox="1"/>
          <p:nvPr/>
        </p:nvSpPr>
        <p:spPr>
          <a:xfrm>
            <a:off x="805543" y="1239564"/>
            <a:ext cx="10461171" cy="707886"/>
          </a:xfrm>
          <a:prstGeom prst="rect">
            <a:avLst/>
          </a:prstGeom>
          <a:noFill/>
        </p:spPr>
        <p:txBody>
          <a:bodyPr wrap="square" rtlCol="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6. Retrieve the names, addresses, and number of books checked out for all borrowers who have more than five books checked out.</a:t>
            </a: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475BD2F-AA45-CD61-7EA3-06F8BB94F2DD}"/>
              </a:ext>
            </a:extLst>
          </p:cNvPr>
          <p:cNvPicPr>
            <a:picLocks noChangeAspect="1"/>
          </p:cNvPicPr>
          <p:nvPr/>
        </p:nvPicPr>
        <p:blipFill>
          <a:blip r:embed="rId2"/>
          <a:stretch>
            <a:fillRect/>
          </a:stretch>
        </p:blipFill>
        <p:spPr>
          <a:xfrm>
            <a:off x="805543" y="2007960"/>
            <a:ext cx="7652778" cy="2476954"/>
          </a:xfrm>
          <a:prstGeom prst="rect">
            <a:avLst/>
          </a:prstGeom>
        </p:spPr>
      </p:pic>
      <p:pic>
        <p:nvPicPr>
          <p:cNvPr id="7" name="Picture 6">
            <a:extLst>
              <a:ext uri="{FF2B5EF4-FFF2-40B4-BE49-F238E27FC236}">
                <a16:creationId xmlns:a16="http://schemas.microsoft.com/office/drawing/2014/main" id="{0C7EF99C-53FF-A69E-AF79-947DF564E7D9}"/>
              </a:ext>
            </a:extLst>
          </p:cNvPr>
          <p:cNvPicPr>
            <a:picLocks noChangeAspect="1"/>
          </p:cNvPicPr>
          <p:nvPr/>
        </p:nvPicPr>
        <p:blipFill>
          <a:blip r:embed="rId3"/>
          <a:stretch>
            <a:fillRect/>
          </a:stretch>
        </p:blipFill>
        <p:spPr>
          <a:xfrm>
            <a:off x="5334001" y="4029122"/>
            <a:ext cx="5551714" cy="1284514"/>
          </a:xfrm>
          <a:prstGeom prst="rect">
            <a:avLst/>
          </a:prstGeom>
        </p:spPr>
      </p:pic>
      <p:pic>
        <p:nvPicPr>
          <p:cNvPr id="8" name="Picture 7">
            <a:extLst>
              <a:ext uri="{FF2B5EF4-FFF2-40B4-BE49-F238E27FC236}">
                <a16:creationId xmlns:a16="http://schemas.microsoft.com/office/drawing/2014/main" id="{F1F4ED12-D558-E4AB-E5E4-0A65473D8E67}"/>
              </a:ext>
            </a:extLst>
          </p:cNvPr>
          <p:cNvPicPr>
            <a:picLocks noChangeAspect="1"/>
          </p:cNvPicPr>
          <p:nvPr/>
        </p:nvPicPr>
        <p:blipFill>
          <a:blip r:embed="rId4"/>
          <a:srcRect l="16399" t="25541" r="13826" b="5429"/>
          <a:stretch>
            <a:fillRect/>
          </a:stretch>
        </p:blipFill>
        <p:spPr>
          <a:xfrm>
            <a:off x="496608" y="214132"/>
            <a:ext cx="1016506" cy="1025432"/>
          </a:xfrm>
          <a:prstGeom prst="rect">
            <a:avLst/>
          </a:prstGeom>
        </p:spPr>
      </p:pic>
      <p:sp>
        <p:nvSpPr>
          <p:cNvPr id="9" name="Rectangle 8">
            <a:extLst>
              <a:ext uri="{FF2B5EF4-FFF2-40B4-BE49-F238E27FC236}">
                <a16:creationId xmlns:a16="http://schemas.microsoft.com/office/drawing/2014/main" id="{5ACAF7AF-0261-F270-47F8-DDF8F736022F}"/>
              </a:ext>
            </a:extLst>
          </p:cNvPr>
          <p:cNvSpPr/>
          <p:nvPr/>
        </p:nvSpPr>
        <p:spPr>
          <a:xfrm>
            <a:off x="805543" y="1239564"/>
            <a:ext cx="10700657" cy="474757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23063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52219-7371-19B5-1688-12859E61C9E0}"/>
              </a:ext>
            </a:extLst>
          </p:cNvPr>
          <p:cNvSpPr>
            <a:spLocks noGrp="1"/>
          </p:cNvSpPr>
          <p:nvPr>
            <p:ph type="title"/>
          </p:nvPr>
        </p:nvSpPr>
        <p:spPr>
          <a:xfrm>
            <a:off x="1589314" y="441161"/>
            <a:ext cx="9764486" cy="788761"/>
          </a:xfrm>
        </p:spPr>
        <p:txBody>
          <a:bodyPr>
            <a:normAutofit/>
          </a:bodyPr>
          <a:lstStyle/>
          <a:p>
            <a:r>
              <a:rPr lang="en-US" sz="3600" b="1" u="sng" dirty="0">
                <a:solidFill>
                  <a:srgbClr val="FF0000"/>
                </a:solidFill>
                <a:latin typeface="Calibri" panose="020F0502020204030204" pitchFamily="34" charset="0"/>
                <a:ea typeface="Calibri" panose="020F0502020204030204" pitchFamily="34" charset="0"/>
                <a:cs typeface="Calibri" panose="020F0502020204030204" pitchFamily="34" charset="0"/>
              </a:rPr>
              <a:t>SQL QUERY &amp; RESULTS</a:t>
            </a:r>
            <a:endParaRPr lang="en-IN" sz="3600" u="sng" dirty="0"/>
          </a:p>
        </p:txBody>
      </p:sp>
      <p:sp>
        <p:nvSpPr>
          <p:cNvPr id="5" name="TextBox 4">
            <a:extLst>
              <a:ext uri="{FF2B5EF4-FFF2-40B4-BE49-F238E27FC236}">
                <a16:creationId xmlns:a16="http://schemas.microsoft.com/office/drawing/2014/main" id="{1A97F633-0087-D43C-6D19-13C21CDEDA13}"/>
              </a:ext>
            </a:extLst>
          </p:cNvPr>
          <p:cNvSpPr txBox="1"/>
          <p:nvPr/>
        </p:nvSpPr>
        <p:spPr>
          <a:xfrm>
            <a:off x="707571" y="1305958"/>
            <a:ext cx="10646229" cy="707886"/>
          </a:xfrm>
          <a:prstGeom prst="rect">
            <a:avLst/>
          </a:prstGeom>
          <a:noFill/>
        </p:spPr>
        <p:txBody>
          <a:bodyPr wrap="squar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7. For each book authored by "Stephen King", retrieve the title and the number of copies owned by the library branch whose name is "Central".</a:t>
            </a:r>
          </a:p>
        </p:txBody>
      </p:sp>
      <p:pic>
        <p:nvPicPr>
          <p:cNvPr id="7" name="Picture 6">
            <a:extLst>
              <a:ext uri="{FF2B5EF4-FFF2-40B4-BE49-F238E27FC236}">
                <a16:creationId xmlns:a16="http://schemas.microsoft.com/office/drawing/2014/main" id="{AD7702FA-1E46-C0B2-0D6C-F62B8FBAF106}"/>
              </a:ext>
            </a:extLst>
          </p:cNvPr>
          <p:cNvPicPr>
            <a:picLocks noChangeAspect="1"/>
          </p:cNvPicPr>
          <p:nvPr/>
        </p:nvPicPr>
        <p:blipFill>
          <a:blip r:embed="rId2"/>
          <a:stretch>
            <a:fillRect/>
          </a:stretch>
        </p:blipFill>
        <p:spPr>
          <a:xfrm>
            <a:off x="707571" y="2165915"/>
            <a:ext cx="8544541" cy="3128355"/>
          </a:xfrm>
          <a:prstGeom prst="rect">
            <a:avLst/>
          </a:prstGeom>
        </p:spPr>
      </p:pic>
      <p:pic>
        <p:nvPicPr>
          <p:cNvPr id="9" name="Picture 8">
            <a:extLst>
              <a:ext uri="{FF2B5EF4-FFF2-40B4-BE49-F238E27FC236}">
                <a16:creationId xmlns:a16="http://schemas.microsoft.com/office/drawing/2014/main" id="{E6EDBA4F-4FFA-90B7-80DD-36A3969CF627}"/>
              </a:ext>
            </a:extLst>
          </p:cNvPr>
          <p:cNvPicPr>
            <a:picLocks noChangeAspect="1"/>
          </p:cNvPicPr>
          <p:nvPr/>
        </p:nvPicPr>
        <p:blipFill>
          <a:blip r:embed="rId3"/>
          <a:stretch>
            <a:fillRect/>
          </a:stretch>
        </p:blipFill>
        <p:spPr>
          <a:xfrm>
            <a:off x="5627914" y="2724584"/>
            <a:ext cx="5433468" cy="894461"/>
          </a:xfrm>
          <a:prstGeom prst="rect">
            <a:avLst/>
          </a:prstGeom>
        </p:spPr>
      </p:pic>
      <p:pic>
        <p:nvPicPr>
          <p:cNvPr id="10" name="Picture 9">
            <a:extLst>
              <a:ext uri="{FF2B5EF4-FFF2-40B4-BE49-F238E27FC236}">
                <a16:creationId xmlns:a16="http://schemas.microsoft.com/office/drawing/2014/main" id="{F317FEF7-A3BB-06FD-FEE5-5EF5068EB59E}"/>
              </a:ext>
            </a:extLst>
          </p:cNvPr>
          <p:cNvPicPr>
            <a:picLocks noChangeAspect="1"/>
          </p:cNvPicPr>
          <p:nvPr/>
        </p:nvPicPr>
        <p:blipFill>
          <a:blip r:embed="rId4"/>
          <a:srcRect l="16399" t="25541" r="13826" b="5429"/>
          <a:stretch>
            <a:fillRect/>
          </a:stretch>
        </p:blipFill>
        <p:spPr>
          <a:xfrm>
            <a:off x="572808" y="237312"/>
            <a:ext cx="1016506" cy="1025432"/>
          </a:xfrm>
          <a:prstGeom prst="rect">
            <a:avLst/>
          </a:prstGeom>
        </p:spPr>
      </p:pic>
      <p:sp>
        <p:nvSpPr>
          <p:cNvPr id="11" name="Rectangle 10">
            <a:extLst>
              <a:ext uri="{FF2B5EF4-FFF2-40B4-BE49-F238E27FC236}">
                <a16:creationId xmlns:a16="http://schemas.microsoft.com/office/drawing/2014/main" id="{2DBF0B82-CAE7-01A4-4D7B-FD064176696C}"/>
              </a:ext>
            </a:extLst>
          </p:cNvPr>
          <p:cNvSpPr/>
          <p:nvPr/>
        </p:nvSpPr>
        <p:spPr>
          <a:xfrm>
            <a:off x="707571" y="1262744"/>
            <a:ext cx="10646229" cy="466997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10833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1BC4-B06E-F65A-69A0-8DFBDBC1A300}"/>
              </a:ext>
            </a:extLst>
          </p:cNvPr>
          <p:cNvSpPr>
            <a:spLocks noGrp="1"/>
          </p:cNvSpPr>
          <p:nvPr>
            <p:ph type="title"/>
          </p:nvPr>
        </p:nvSpPr>
        <p:spPr>
          <a:xfrm>
            <a:off x="838200" y="365126"/>
            <a:ext cx="10515600" cy="1039132"/>
          </a:xfrm>
        </p:spPr>
        <p:txBody>
          <a:bodyPr>
            <a:normAutofit/>
          </a:bodyPr>
          <a:lstStyle/>
          <a:p>
            <a:r>
              <a:rPr lang="en-US" sz="3600" b="1" u="sng" dirty="0">
                <a:solidFill>
                  <a:srgbClr val="FF0000"/>
                </a:solidFill>
              </a:rPr>
              <a:t>Final Business Insights</a:t>
            </a:r>
            <a:endParaRPr lang="en-IN" sz="3600" b="1" u="sng" dirty="0">
              <a:solidFill>
                <a:srgbClr val="FF0000"/>
              </a:solidFill>
            </a:endParaRPr>
          </a:p>
        </p:txBody>
      </p:sp>
      <p:sp>
        <p:nvSpPr>
          <p:cNvPr id="4" name="Rectangle 1">
            <a:extLst>
              <a:ext uri="{FF2B5EF4-FFF2-40B4-BE49-F238E27FC236}">
                <a16:creationId xmlns:a16="http://schemas.microsoft.com/office/drawing/2014/main" id="{BD331C3C-93C4-5948-FE84-8DFA137107E9}"/>
              </a:ext>
            </a:extLst>
          </p:cNvPr>
          <p:cNvSpPr>
            <a:spLocks noGrp="1" noChangeArrowheads="1"/>
          </p:cNvSpPr>
          <p:nvPr>
            <p:ph type="body" idx="1"/>
          </p:nvPr>
        </p:nvSpPr>
        <p:spPr bwMode="auto">
          <a:xfrm>
            <a:off x="838200" y="1328059"/>
            <a:ext cx="959031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Enabled data-driven decision-making by providing clear insights into book demand, branch-wise usage, and borrower activity.</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Reduced manual effort and operational errors through automated tracking of book issues, returns, and due dates.</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Improved resource utilization by identifying high-usage and inactive borrowers, supporting fair and efficient library policies.</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Delivered a scalable and reliable system that enhances overall library efficiency and user experience.</a:t>
            </a:r>
          </a:p>
        </p:txBody>
      </p:sp>
    </p:spTree>
    <p:extLst>
      <p:ext uri="{BB962C8B-B14F-4D97-AF65-F5344CB8AC3E}">
        <p14:creationId xmlns:p14="http://schemas.microsoft.com/office/powerpoint/2010/main" val="1677482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2B00D4-1444-B187-DC50-01EA1F87F680}"/>
              </a:ext>
            </a:extLst>
          </p:cNvPr>
          <p:cNvSpPr txBox="1"/>
          <p:nvPr/>
        </p:nvSpPr>
        <p:spPr>
          <a:xfrm>
            <a:off x="1035697" y="587828"/>
            <a:ext cx="4173894" cy="646331"/>
          </a:xfrm>
          <a:prstGeom prst="rect">
            <a:avLst/>
          </a:prstGeom>
          <a:noFill/>
        </p:spPr>
        <p:txBody>
          <a:bodyPr wrap="square" rtlCol="0">
            <a:spAutoFit/>
          </a:bodyPr>
          <a:lstStyle/>
          <a:p>
            <a:r>
              <a:rPr lang="en-US" sz="3600" b="1" dirty="0">
                <a:solidFill>
                  <a:srgbClr val="FF0000"/>
                </a:solidFill>
              </a:rPr>
              <a:t>   CONCLUSION</a:t>
            </a:r>
          </a:p>
        </p:txBody>
      </p:sp>
      <p:sp>
        <p:nvSpPr>
          <p:cNvPr id="12" name="TextBox 11">
            <a:extLst>
              <a:ext uri="{FF2B5EF4-FFF2-40B4-BE49-F238E27FC236}">
                <a16:creationId xmlns:a16="http://schemas.microsoft.com/office/drawing/2014/main" id="{0032256B-8370-2B10-BCA1-38D3F32052A8}"/>
              </a:ext>
            </a:extLst>
          </p:cNvPr>
          <p:cNvSpPr txBox="1"/>
          <p:nvPr/>
        </p:nvSpPr>
        <p:spPr>
          <a:xfrm>
            <a:off x="695130" y="1552346"/>
            <a:ext cx="10531152" cy="3276282"/>
          </a:xfrm>
          <a:prstGeom prst="rect">
            <a:avLst/>
          </a:prstGeom>
          <a:noFill/>
        </p:spPr>
        <p:txBody>
          <a:bodyPr wrap="square">
            <a:spAutoFit/>
          </a:bodyPr>
          <a:lstStyle/>
          <a:p>
            <a:pPr>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In conclusion, the Library Management System built with MySQL provides an effective, automated solution to the challenges faced by modern libraries. By enhancing the management of books, users, and transactions, the system improves overall efficiency, reduces manual errors, and offers a better experience for both library staff and users. The use of MySQL ensures a robust, scalable database that can grow with the library’s needs. This project demonstrates how technology can optimize traditional systems, making library management more streamlined, accessible, and user-friendly.</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E3EAF120-22AC-19E6-B0A5-2BD5600D5F45}"/>
              </a:ext>
            </a:extLst>
          </p:cNvPr>
          <p:cNvPicPr>
            <a:picLocks noChangeAspect="1"/>
          </p:cNvPicPr>
          <p:nvPr/>
        </p:nvPicPr>
        <p:blipFill>
          <a:blip r:embed="rId2"/>
          <a:srcRect l="16399" t="25541" r="13826" b="5429"/>
          <a:stretch>
            <a:fillRect/>
          </a:stretch>
        </p:blipFill>
        <p:spPr>
          <a:xfrm>
            <a:off x="326570" y="280527"/>
            <a:ext cx="1143001" cy="1142992"/>
          </a:xfrm>
          <a:prstGeom prst="rect">
            <a:avLst/>
          </a:prstGeom>
        </p:spPr>
      </p:pic>
    </p:spTree>
    <p:extLst>
      <p:ext uri="{BB962C8B-B14F-4D97-AF65-F5344CB8AC3E}">
        <p14:creationId xmlns:p14="http://schemas.microsoft.com/office/powerpoint/2010/main" val="1067315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1F2AB2-8150-2C60-44C0-F00251DA1FF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091543" y="1273629"/>
            <a:ext cx="6019799" cy="3668485"/>
          </a:xfrm>
          <a:prstGeom prst="rect">
            <a:avLst/>
          </a:prstGeom>
        </p:spPr>
      </p:pic>
    </p:spTree>
    <p:extLst>
      <p:ext uri="{BB962C8B-B14F-4D97-AF65-F5344CB8AC3E}">
        <p14:creationId xmlns:p14="http://schemas.microsoft.com/office/powerpoint/2010/main" val="3783175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E487CB-F04A-2057-2E23-0993374C1283}"/>
              </a:ext>
            </a:extLst>
          </p:cNvPr>
          <p:cNvSpPr>
            <a:spLocks noGrp="1"/>
          </p:cNvSpPr>
          <p:nvPr>
            <p:ph type="title"/>
          </p:nvPr>
        </p:nvSpPr>
        <p:spPr>
          <a:xfrm>
            <a:off x="1513114" y="365125"/>
            <a:ext cx="9840686" cy="1325563"/>
          </a:xfrm>
        </p:spPr>
        <p:txBody>
          <a:bodyPr>
            <a:normAutofit/>
          </a:bodyPr>
          <a:lstStyle/>
          <a:p>
            <a:r>
              <a:rPr lang="en-IN" sz="3600" b="1" dirty="0">
                <a:solidFill>
                  <a:srgbClr val="FF0000"/>
                </a:solidFill>
              </a:rPr>
              <a:t>Experience/Challenges working on SQL</a:t>
            </a:r>
            <a:endParaRPr lang="en-IN" sz="3600" dirty="0">
              <a:solidFill>
                <a:srgbClr val="FF0000"/>
              </a:solidFill>
            </a:endParaRPr>
          </a:p>
        </p:txBody>
      </p:sp>
      <p:sp>
        <p:nvSpPr>
          <p:cNvPr id="6" name="Rectangle 1">
            <a:extLst>
              <a:ext uri="{FF2B5EF4-FFF2-40B4-BE49-F238E27FC236}">
                <a16:creationId xmlns:a16="http://schemas.microsoft.com/office/drawing/2014/main" id="{BCCE5CFE-FBDE-7382-3897-2FE0CE347F09}"/>
              </a:ext>
            </a:extLst>
          </p:cNvPr>
          <p:cNvSpPr>
            <a:spLocks noGrp="1" noChangeArrowheads="1"/>
          </p:cNvSpPr>
          <p:nvPr>
            <p:ph type="body" idx="1"/>
          </p:nvPr>
        </p:nvSpPr>
        <p:spPr bwMode="auto">
          <a:xfrm>
            <a:off x="642258" y="1690688"/>
            <a:ext cx="11083212"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Faced challenges in designing proper tables and relationships, which helped me understand database structure and normalization better.</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Writing queries with joins was challenging initially, but it improved my SQL and logical thinking skills.</a:t>
            </a:r>
          </a:p>
          <a:p>
            <a:pPr marL="342900" marR="0" lvl="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Gained hands-on experience with CRUD operations and managing real-world data like books, borrowers, and loans.</a:t>
            </a:r>
          </a:p>
        </p:txBody>
      </p:sp>
      <p:pic>
        <p:nvPicPr>
          <p:cNvPr id="7" name="Picture 6">
            <a:extLst>
              <a:ext uri="{FF2B5EF4-FFF2-40B4-BE49-F238E27FC236}">
                <a16:creationId xmlns:a16="http://schemas.microsoft.com/office/drawing/2014/main" id="{42582BDD-97EC-A156-31E5-1261FAD1C3D4}"/>
              </a:ext>
            </a:extLst>
          </p:cNvPr>
          <p:cNvPicPr>
            <a:picLocks noChangeAspect="1"/>
          </p:cNvPicPr>
          <p:nvPr/>
        </p:nvPicPr>
        <p:blipFill>
          <a:blip r:embed="rId2"/>
          <a:srcRect l="16399" t="25541" r="13826" b="5429"/>
          <a:stretch>
            <a:fillRect/>
          </a:stretch>
        </p:blipFill>
        <p:spPr>
          <a:xfrm>
            <a:off x="370113" y="365125"/>
            <a:ext cx="1143001" cy="1142992"/>
          </a:xfrm>
          <a:prstGeom prst="rect">
            <a:avLst/>
          </a:prstGeom>
        </p:spPr>
      </p:pic>
    </p:spTree>
    <p:extLst>
      <p:ext uri="{BB962C8B-B14F-4D97-AF65-F5344CB8AC3E}">
        <p14:creationId xmlns:p14="http://schemas.microsoft.com/office/powerpoint/2010/main" val="29906462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TM03457496[[fn=Parallax]]</Template>
  <TotalTime>432</TotalTime>
  <Words>926</Words>
  <Application>Microsoft Office PowerPoint</Application>
  <PresentationFormat>Widescreen</PresentationFormat>
  <Paragraphs>71</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Libre Baskerville</vt:lpstr>
      <vt:lpstr>Calibri</vt:lpstr>
      <vt:lpstr>Segoe UI</vt:lpstr>
      <vt:lpstr>Arial</vt:lpstr>
      <vt:lpstr>Wingdings</vt:lpstr>
      <vt:lpstr>Office Theme</vt:lpstr>
      <vt:lpstr>PowerPoint Presentation</vt:lpstr>
      <vt:lpstr>About</vt:lpstr>
      <vt:lpstr>Agenda</vt:lpstr>
      <vt:lpstr>BUSINESS PROBLEM STATEMENT</vt:lpstr>
      <vt:lpstr>PowerPoint Presentation</vt:lpstr>
      <vt:lpstr>TABLES</vt:lpstr>
      <vt:lpstr>Data Model(EER DIAGRAM)</vt:lpstr>
      <vt:lpstr>PowerPoint Presentation</vt:lpstr>
      <vt:lpstr>PowerPoint Presentation</vt:lpstr>
      <vt:lpstr>     SQL QUERY &amp; RESULTS</vt:lpstr>
      <vt:lpstr> SQL QUERY &amp; RESULTS</vt:lpstr>
      <vt:lpstr>SQL QUERY &amp; RESULTS</vt:lpstr>
      <vt:lpstr>SQL QUERY &amp; RESULTS</vt:lpstr>
      <vt:lpstr>SQL QUERY &amp; RESULTS</vt:lpstr>
      <vt:lpstr>SQL QUERY &amp; RESULTS</vt:lpstr>
      <vt:lpstr>Final Business Insights</vt:lpstr>
      <vt:lpstr>PowerPoint Presentation</vt:lpstr>
      <vt:lpstr>PowerPoint Presentation</vt:lpstr>
      <vt:lpstr>Experience/Challenges working on SQL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Mounika Gittagoni</cp:lastModifiedBy>
  <cp:revision>40</cp:revision>
  <dcterms:created xsi:type="dcterms:W3CDTF">2021-02-16T05:19:01Z</dcterms:created>
  <dcterms:modified xsi:type="dcterms:W3CDTF">2025-12-22T11:18:48Z</dcterms:modified>
</cp:coreProperties>
</file>